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945600" cy="123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10-minute delivery: 0:00–1:00 problem and recommendation; 1:00–3:00 measurements and damping; 3:00–5:00 model validation and rigid-shaft comparison; 5:00–6:15 sensitivity and detuning; 6:15–8:30 four alternatives and fixed-voltage tradeoffs; 8:30–10:00 shaft-damper recommendation and limits. Use the red boxes to add a rig photo and a labeled CAD/schematic before presenting. A rigid shaft means zero relative motion / infinite stiffness, not zero damping. The shaft-damping design has no local response peak; the table reports its maximum gain in the measured 4–10 Hz band. Do not claim that four designs were physically tested, or that vehicle comfort was measured. At equal final speed, the shaft damper retains its pulse benefit; the others lose much of their advantage.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1945600" cy="1325880"/>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10312"/>
            <a:ext cx="21122640" cy="612648"/>
          </a:xfrm>
          <a:prstGeom prst="rect">
            <a:avLst/>
          </a:prstGeom>
          <a:noFill/>
        </p:spPr>
        <p:txBody>
          <a:bodyPr wrap="square" lIns="13716" rIns="13716" tIns="13716" bIns="13716">
            <a:spAutoFit/>
          </a:bodyPr>
          <a:lstStyle/>
          <a:p>
            <a:pPr algn="l">
              <a:lnSpc>
                <a:spcPct val="107000"/>
              </a:lnSpc>
              <a:spcBef>
                <a:spcPts val="0"/>
              </a:spcBef>
              <a:spcAft>
                <a:spcPts val="100"/>
              </a:spcAft>
              <a:defRPr sz="3800" b="1">
                <a:solidFill>
                  <a:srgbClr val="FFFFFF"/>
                </a:solidFill>
                <a:latin typeface="Arial"/>
              </a:defRPr>
            </a:pPr>
            <a:r>
              <a:t>Four passive changes can cut modeled vibration by ≥30%</a:t>
            </a:r>
          </a:p>
        </p:txBody>
      </p:sp>
      <p:sp>
        <p:nvSpPr>
          <p:cNvPr id="4" name="TextBox 3"/>
          <p:cNvSpPr txBox="1"/>
          <p:nvPr/>
        </p:nvSpPr>
        <p:spPr>
          <a:xfrm>
            <a:off x="438912" y="905256"/>
            <a:ext cx="21031200" cy="283464"/>
          </a:xfrm>
          <a:prstGeom prst="rect">
            <a:avLst/>
          </a:prstGeom>
          <a:noFill/>
        </p:spPr>
        <p:txBody>
          <a:bodyPr wrap="square" lIns="13716" rIns="13716" tIns="13716" bIns="13716">
            <a:spAutoFit/>
          </a:bodyPr>
          <a:lstStyle/>
          <a:p>
            <a:pPr algn="l">
              <a:lnSpc>
                <a:spcPct val="107000"/>
              </a:lnSpc>
              <a:spcBef>
                <a:spcPts val="0"/>
              </a:spcBef>
              <a:spcAft>
                <a:spcPts val="100"/>
              </a:spcAft>
              <a:defRPr sz="1900" b="0">
                <a:solidFill>
                  <a:srgbClr val="FFFFFF"/>
                </a:solidFill>
                <a:latin typeface="Arial"/>
              </a:defRPr>
            </a:pPr>
            <a:r>
              <a:t>Gulo 3000  |  Experimental model + design simulations  |  Powertrain Dynamics Group  |  ME 495</a:t>
            </a:r>
          </a:p>
        </p:txBody>
      </p:sp>
      <p:sp>
        <p:nvSpPr>
          <p:cNvPr id="5" name="Rectangle 4"/>
          <p:cNvSpPr/>
          <p:nvPr/>
        </p:nvSpPr>
        <p:spPr>
          <a:xfrm>
            <a:off x="411480" y="1435608"/>
            <a:ext cx="21122640" cy="393192"/>
          </a:xfrm>
          <a:prstGeom prst="rect">
            <a:avLst/>
          </a:prstGeom>
          <a:solidFill>
            <a:srgbClr val="F3C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472184"/>
            <a:ext cx="20894040" cy="320040"/>
          </a:xfrm>
          <a:prstGeom prst="rect">
            <a:avLst/>
          </a:prstGeom>
          <a:noFill/>
        </p:spPr>
        <p:txBody>
          <a:bodyPr wrap="square" lIns="13716" rIns="13716" tIns="13716" bIns="13716">
            <a:spAutoFit/>
          </a:bodyPr>
          <a:lstStyle/>
          <a:p>
            <a:pPr algn="l">
              <a:lnSpc>
                <a:spcPct val="107000"/>
              </a:lnSpc>
              <a:spcBef>
                <a:spcPts val="0"/>
              </a:spcBef>
              <a:spcAft>
                <a:spcPts val="100"/>
              </a:spcAft>
              <a:defRPr sz="1900" b="1">
                <a:solidFill>
                  <a:srgbClr val="062D48"/>
                </a:solidFill>
                <a:latin typeface="Arial"/>
              </a:defRPr>
            </a:pPr>
            <a:r>
              <a:t>First prototype to investigate: a shaft-path damper that preserves modeled steady-speed response.</a:t>
            </a:r>
          </a:p>
        </p:txBody>
      </p:sp>
      <p:sp>
        <p:nvSpPr>
          <p:cNvPr id="7" name="Rectangle 6"/>
          <p:cNvSpPr/>
          <p:nvPr/>
        </p:nvSpPr>
        <p:spPr>
          <a:xfrm>
            <a:off x="411480" y="1938528"/>
            <a:ext cx="6858000" cy="402336"/>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1975104"/>
            <a:ext cx="6656832" cy="320040"/>
          </a:xfrm>
          <a:prstGeom prst="rect">
            <a:avLst/>
          </a:prstGeom>
          <a:noFill/>
        </p:spPr>
        <p:txBody>
          <a:bodyPr wrap="square" lIns="13716" rIns="13716" tIns="13716" bIns="13716">
            <a:spAutoFit/>
          </a:bodyPr>
          <a:lstStyle/>
          <a:p>
            <a:pPr algn="l">
              <a:lnSpc>
                <a:spcPct val="107000"/>
              </a:lnSpc>
              <a:spcBef>
                <a:spcPts val="0"/>
              </a:spcBef>
              <a:spcAft>
                <a:spcPts val="100"/>
              </a:spcAft>
              <a:defRPr sz="2100" b="1">
                <a:solidFill>
                  <a:srgbClr val="FFFFFF"/>
                </a:solidFill>
                <a:latin typeface="Arial"/>
              </a:defRPr>
            </a:pPr>
            <a:r>
              <a:t>1  Measure and model the shaft</a:t>
            </a:r>
          </a:p>
        </p:txBody>
      </p:sp>
      <p:sp>
        <p:nvSpPr>
          <p:cNvPr id="9" name="TextBox 8"/>
          <p:cNvSpPr txBox="1"/>
          <p:nvPr/>
        </p:nvSpPr>
        <p:spPr>
          <a:xfrm>
            <a:off x="411480" y="2487168"/>
            <a:ext cx="6858000" cy="630936"/>
          </a:xfrm>
          <a:prstGeom prst="rect">
            <a:avLst/>
          </a:prstGeom>
          <a:noFill/>
        </p:spPr>
        <p:txBody>
          <a:bodyPr wrap="square" lIns="13716" rIns="13716" tIns="13716" bIns="13716">
            <a:spAutoFit/>
          </a:bodyPr>
          <a:lstStyle/>
          <a:p>
            <a:pPr algn="l">
              <a:lnSpc>
                <a:spcPct val="107000"/>
              </a:lnSpc>
              <a:spcBef>
                <a:spcPts val="0"/>
              </a:spcBef>
              <a:spcAft>
                <a:spcPts val="100"/>
              </a:spcAft>
              <a:defRPr sz="1900" b="0">
                <a:solidFill>
                  <a:srgbClr val="062D48"/>
                </a:solidFill>
                <a:latin typeface="Arial"/>
              </a:defRPr>
            </a:pPr>
            <a:r>
              <a:t>Motor switching excites torsional vibration.</a:t>
            </a:r>
          </a:p>
          <a:p>
            <a:pPr algn="l">
              <a:lnSpc>
                <a:spcPct val="107000"/>
              </a:lnSpc>
              <a:spcBef>
                <a:spcPts val="0"/>
              </a:spcBef>
              <a:spcAft>
                <a:spcPts val="100"/>
              </a:spcAft>
              <a:defRPr sz="1900" b="0">
                <a:solidFill>
                  <a:srgbClr val="062D48"/>
                </a:solidFill>
                <a:latin typeface="Arial"/>
              </a:defRPr>
            </a:pPr>
            <a:r>
              <a:t>Goal: validate its source and identify four ≥30% solutions.</a:t>
            </a:r>
          </a:p>
        </p:txBody>
      </p:sp>
      <p:sp>
        <p:nvSpPr>
          <p:cNvPr id="10" name="Rectangle 9"/>
          <p:cNvSpPr/>
          <p:nvPr/>
        </p:nvSpPr>
        <p:spPr>
          <a:xfrm>
            <a:off x="411480" y="3291840"/>
            <a:ext cx="6858000" cy="1225296"/>
          </a:xfrm>
          <a:prstGeom prst="rect">
            <a:avLst/>
          </a:prstGeom>
          <a:solidFill>
            <a:srgbClr val="FFF4F4"/>
          </a:solidFill>
          <a:ln w="25400">
            <a:solidFill>
              <a:srgbClr val="C9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3374136"/>
            <a:ext cx="6601968" cy="274320"/>
          </a:xfrm>
          <a:prstGeom prst="rect">
            <a:avLst/>
          </a:prstGeom>
          <a:noFill/>
        </p:spPr>
        <p:txBody>
          <a:bodyPr wrap="square" lIns="13716" rIns="13716" tIns="13716" bIns="13716">
            <a:spAutoFit/>
          </a:bodyPr>
          <a:lstStyle/>
          <a:p>
            <a:pPr algn="l">
              <a:lnSpc>
                <a:spcPct val="107000"/>
              </a:lnSpc>
              <a:spcBef>
                <a:spcPts val="0"/>
              </a:spcBef>
              <a:spcAft>
                <a:spcPts val="100"/>
              </a:spcAft>
              <a:defRPr sz="1800" b="1">
                <a:solidFill>
                  <a:srgbClr val="C92934"/>
                </a:solidFill>
                <a:latin typeface="Arial"/>
              </a:defRPr>
            </a:pPr>
            <a:r>
              <a:t>PHOTO TO TAKE — physical test rig</a:t>
            </a:r>
          </a:p>
        </p:txBody>
      </p:sp>
      <p:sp>
        <p:nvSpPr>
          <p:cNvPr id="12" name="TextBox 11"/>
          <p:cNvSpPr txBox="1"/>
          <p:nvPr/>
        </p:nvSpPr>
        <p:spPr>
          <a:xfrm>
            <a:off x="539496" y="3694176"/>
            <a:ext cx="6601968" cy="7680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C92934"/>
                </a:solidFill>
                <a:latin typeface="Arial"/>
              </a:defRPr>
            </a:pPr>
            <a:r>
              <a:t>Take a clear front/oblique photo. Label the motor, flywheels 1 and 2, shaft, distal bearing and both tachometers.</a:t>
            </a:r>
          </a:p>
        </p:txBody>
      </p:sp>
      <p:sp>
        <p:nvSpPr>
          <p:cNvPr id="13" name="Rectangle 12"/>
          <p:cNvSpPr/>
          <p:nvPr/>
        </p:nvSpPr>
        <p:spPr>
          <a:xfrm>
            <a:off x="411480" y="4672584"/>
            <a:ext cx="6858000" cy="1252728"/>
          </a:xfrm>
          <a:prstGeom prst="rect">
            <a:avLst/>
          </a:prstGeom>
          <a:solidFill>
            <a:srgbClr val="FFF4F4"/>
          </a:solidFill>
          <a:ln w="25400">
            <a:solidFill>
              <a:srgbClr val="C9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 y="4754880"/>
            <a:ext cx="6601968" cy="274320"/>
          </a:xfrm>
          <a:prstGeom prst="rect">
            <a:avLst/>
          </a:prstGeom>
          <a:noFill/>
        </p:spPr>
        <p:txBody>
          <a:bodyPr wrap="square" lIns="13716" rIns="13716" tIns="13716" bIns="13716">
            <a:spAutoFit/>
          </a:bodyPr>
          <a:lstStyle/>
          <a:p>
            <a:pPr algn="l">
              <a:lnSpc>
                <a:spcPct val="107000"/>
              </a:lnSpc>
              <a:spcBef>
                <a:spcPts val="0"/>
              </a:spcBef>
              <a:spcAft>
                <a:spcPts val="100"/>
              </a:spcAft>
              <a:defRPr sz="1800" b="1">
                <a:solidFill>
                  <a:srgbClr val="C92934"/>
                </a:solidFill>
                <a:latin typeface="Arial"/>
              </a:defRPr>
            </a:pPr>
            <a:r>
              <a:t>CAD / SCHEMATIC TO ADD — two-inertia system</a:t>
            </a:r>
          </a:p>
        </p:txBody>
      </p:sp>
      <p:sp>
        <p:nvSpPr>
          <p:cNvPr id="15" name="TextBox 14"/>
          <p:cNvSpPr txBox="1"/>
          <p:nvPr/>
        </p:nvSpPr>
        <p:spPr>
          <a:xfrm>
            <a:off x="539496" y="5074920"/>
            <a:ext cx="6601968" cy="795528"/>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C92934"/>
                </a:solidFill>
                <a:latin typeface="Arial"/>
              </a:defRPr>
            </a:pPr>
            <a:r>
              <a:t>Capture a simplified CAD assembly or draw a clean schematic. Label Jc, Jf, K, Bs, Bm, Bb, voltage input Vin and speed output ω2.</a:t>
            </a:r>
          </a:p>
        </p:txBody>
      </p:sp>
      <p:sp>
        <p:nvSpPr>
          <p:cNvPr id="16" name="TextBox 15"/>
          <p:cNvSpPr txBox="1"/>
          <p:nvPr/>
        </p:nvSpPr>
        <p:spPr>
          <a:xfrm>
            <a:off x="411480" y="6126480"/>
            <a:ext cx="6858000" cy="320040"/>
          </a:xfrm>
          <a:prstGeom prst="rect">
            <a:avLst/>
          </a:prstGeom>
          <a:noFill/>
        </p:spPr>
        <p:txBody>
          <a:bodyPr wrap="square" lIns="13716" rIns="13716" tIns="13716" bIns="13716">
            <a:spAutoFit/>
          </a:bodyPr>
          <a:lstStyle/>
          <a:p>
            <a:pPr algn="l">
              <a:lnSpc>
                <a:spcPct val="107000"/>
              </a:lnSpc>
              <a:spcBef>
                <a:spcPts val="0"/>
              </a:spcBef>
              <a:spcAft>
                <a:spcPts val="100"/>
              </a:spcAft>
              <a:defRPr sz="2000" b="1">
                <a:solidFill>
                  <a:srgbClr val="062D48"/>
                </a:solidFill>
                <a:latin typeface="Arial"/>
              </a:defRPr>
            </a:pPr>
            <a:r>
              <a:t>Parameters come from measurements and mechanics</a:t>
            </a:r>
          </a:p>
        </p:txBody>
      </p:sp>
      <p:sp>
        <p:nvSpPr>
          <p:cNvPr id="17" name="Rectangle 16"/>
          <p:cNvSpPr/>
          <p:nvPr/>
        </p:nvSpPr>
        <p:spPr>
          <a:xfrm>
            <a:off x="411480" y="6519672"/>
            <a:ext cx="3017520" cy="320040"/>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 y="6551676"/>
            <a:ext cx="2871215"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1">
                <a:solidFill>
                  <a:srgbClr val="FFFFFF"/>
                </a:solidFill>
                <a:latin typeface="Arial"/>
              </a:defRPr>
            </a:pPr>
            <a:r>
              <a:t>Parameter</a:t>
            </a:r>
          </a:p>
        </p:txBody>
      </p:sp>
      <p:sp>
        <p:nvSpPr>
          <p:cNvPr id="19" name="Rectangle 18"/>
          <p:cNvSpPr/>
          <p:nvPr/>
        </p:nvSpPr>
        <p:spPr>
          <a:xfrm>
            <a:off x="3429000" y="6519672"/>
            <a:ext cx="3840480" cy="320040"/>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6551676"/>
            <a:ext cx="3694176"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1">
                <a:solidFill>
                  <a:srgbClr val="FFFFFF"/>
                </a:solidFill>
                <a:latin typeface="Arial"/>
              </a:defRPr>
            </a:pPr>
            <a:r>
              <a:t>Identified value</a:t>
            </a:r>
          </a:p>
        </p:txBody>
      </p:sp>
      <p:sp>
        <p:nvSpPr>
          <p:cNvPr id="21" name="Rectangle 20"/>
          <p:cNvSpPr/>
          <p:nvPr/>
        </p:nvSpPr>
        <p:spPr>
          <a:xfrm>
            <a:off x="411480" y="6839712"/>
            <a:ext cx="3017520" cy="3200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 y="6871716"/>
            <a:ext cx="2871215"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Motor resistance Rm</a:t>
            </a:r>
          </a:p>
        </p:txBody>
      </p:sp>
      <p:sp>
        <p:nvSpPr>
          <p:cNvPr id="23" name="Rectangle 22"/>
          <p:cNvSpPr/>
          <p:nvPr/>
        </p:nvSpPr>
        <p:spPr>
          <a:xfrm>
            <a:off x="3429000" y="6839712"/>
            <a:ext cx="3840480" cy="3200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2152" y="6871716"/>
            <a:ext cx="3694176"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2.495 Ω</a:t>
            </a:r>
          </a:p>
        </p:txBody>
      </p:sp>
      <p:sp>
        <p:nvSpPr>
          <p:cNvPr id="25" name="Rectangle 24"/>
          <p:cNvSpPr/>
          <p:nvPr/>
        </p:nvSpPr>
        <p:spPr>
          <a:xfrm>
            <a:off x="411480" y="7159752"/>
            <a:ext cx="30175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4632" y="7191756"/>
            <a:ext cx="2871215"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Motor constant Km</a:t>
            </a:r>
          </a:p>
        </p:txBody>
      </p:sp>
      <p:sp>
        <p:nvSpPr>
          <p:cNvPr id="27" name="Rectangle 26"/>
          <p:cNvSpPr/>
          <p:nvPr/>
        </p:nvSpPr>
        <p:spPr>
          <a:xfrm>
            <a:off x="3429000" y="7159752"/>
            <a:ext cx="384048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02152" y="7191756"/>
            <a:ext cx="3694176"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0.0982 V·s/rad</a:t>
            </a:r>
          </a:p>
        </p:txBody>
      </p:sp>
      <p:sp>
        <p:nvSpPr>
          <p:cNvPr id="29" name="Rectangle 28"/>
          <p:cNvSpPr/>
          <p:nvPr/>
        </p:nvSpPr>
        <p:spPr>
          <a:xfrm>
            <a:off x="411480" y="7479792"/>
            <a:ext cx="3017520" cy="3200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 y="7511796"/>
            <a:ext cx="2871215"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Combined damping Btr / Btl</a:t>
            </a:r>
          </a:p>
        </p:txBody>
      </p:sp>
      <p:sp>
        <p:nvSpPr>
          <p:cNvPr id="31" name="Rectangle 30"/>
          <p:cNvSpPr/>
          <p:nvPr/>
        </p:nvSpPr>
        <p:spPr>
          <a:xfrm>
            <a:off x="3429000" y="7479792"/>
            <a:ext cx="3840480" cy="3200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02152" y="7511796"/>
            <a:ext cx="3694176"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0.00143 / 0.00781 N·m·s/rad</a:t>
            </a:r>
          </a:p>
        </p:txBody>
      </p:sp>
      <p:sp>
        <p:nvSpPr>
          <p:cNvPr id="33" name="Rectangle 32"/>
          <p:cNvSpPr/>
          <p:nvPr/>
        </p:nvSpPr>
        <p:spPr>
          <a:xfrm>
            <a:off x="411480" y="7799831"/>
            <a:ext cx="30175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4632" y="7831836"/>
            <a:ext cx="2871215"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Effective shaft stiffness K</a:t>
            </a:r>
          </a:p>
        </p:txBody>
      </p:sp>
      <p:sp>
        <p:nvSpPr>
          <p:cNvPr id="35" name="Rectangle 34"/>
          <p:cNvSpPr/>
          <p:nvPr/>
        </p:nvSpPr>
        <p:spPr>
          <a:xfrm>
            <a:off x="3429000" y="7799831"/>
            <a:ext cx="384048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02152" y="7831836"/>
            <a:ext cx="3694176" cy="283464"/>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2.203 N·m/rad (refined)</a:t>
            </a:r>
          </a:p>
        </p:txBody>
      </p:sp>
      <p:pic>
        <p:nvPicPr>
          <p:cNvPr id="37" name="Picture 36" descr="damping_evidence.png"/>
          <p:cNvPicPr>
            <a:picLocks noChangeAspect="1"/>
          </p:cNvPicPr>
          <p:nvPr/>
        </p:nvPicPr>
        <p:blipFill>
          <a:blip r:embed="rId2"/>
          <a:stretch>
            <a:fillRect/>
          </a:stretch>
        </p:blipFill>
        <p:spPr>
          <a:xfrm>
            <a:off x="411480" y="8247888"/>
            <a:ext cx="6858000" cy="2633472"/>
          </a:xfrm>
          <a:prstGeom prst="rect">
            <a:avLst/>
          </a:prstGeom>
        </p:spPr>
      </p:pic>
      <p:sp>
        <p:nvSpPr>
          <p:cNvPr id="38" name="TextBox 37"/>
          <p:cNvSpPr txBox="1"/>
          <p:nvPr/>
        </p:nvSpPr>
        <p:spPr>
          <a:xfrm>
            <a:off x="411480" y="10991088"/>
            <a:ext cx="6858000" cy="502920"/>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3 sweeps + 28 time records. Free decay identifies damping; the uncoupled-motor test estimates external loss.</a:t>
            </a:r>
          </a:p>
        </p:txBody>
      </p:sp>
      <p:sp>
        <p:nvSpPr>
          <p:cNvPr id="39" name="Rectangle 38"/>
          <p:cNvSpPr/>
          <p:nvPr/>
        </p:nvSpPr>
        <p:spPr>
          <a:xfrm>
            <a:off x="7543800" y="1938528"/>
            <a:ext cx="6858000" cy="402336"/>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44383" y="1975104"/>
            <a:ext cx="6656832" cy="320040"/>
          </a:xfrm>
          <a:prstGeom prst="rect">
            <a:avLst/>
          </a:prstGeom>
          <a:noFill/>
        </p:spPr>
        <p:txBody>
          <a:bodyPr wrap="square" lIns="13716" rIns="13716" tIns="13716" bIns="13716">
            <a:spAutoFit/>
          </a:bodyPr>
          <a:lstStyle/>
          <a:p>
            <a:pPr algn="l">
              <a:lnSpc>
                <a:spcPct val="107000"/>
              </a:lnSpc>
              <a:spcBef>
                <a:spcPts val="0"/>
              </a:spcBef>
              <a:spcAft>
                <a:spcPts val="100"/>
              </a:spcAft>
              <a:defRPr sz="2100" b="1">
                <a:solidFill>
                  <a:srgbClr val="FFFFFF"/>
                </a:solidFill>
                <a:latin typeface="Arial"/>
              </a:defRPr>
            </a:pPr>
            <a:r>
              <a:t>2  The flexible model explains resonance</a:t>
            </a:r>
          </a:p>
        </p:txBody>
      </p:sp>
      <p:pic>
        <p:nvPicPr>
          <p:cNvPr id="41" name="Picture 40" descr="model_validation.png"/>
          <p:cNvPicPr>
            <a:picLocks noChangeAspect="1"/>
          </p:cNvPicPr>
          <p:nvPr/>
        </p:nvPicPr>
        <p:blipFill>
          <a:blip r:embed="rId3"/>
          <a:stretch>
            <a:fillRect/>
          </a:stretch>
        </p:blipFill>
        <p:spPr>
          <a:xfrm>
            <a:off x="7543800" y="2496312"/>
            <a:ext cx="6858000" cy="4251960"/>
          </a:xfrm>
          <a:prstGeom prst="rect">
            <a:avLst/>
          </a:prstGeom>
        </p:spPr>
      </p:pic>
      <p:sp>
        <p:nvSpPr>
          <p:cNvPr id="42" name="Rectangle 41"/>
          <p:cNvSpPr/>
          <p:nvPr/>
        </p:nvSpPr>
        <p:spPr>
          <a:xfrm>
            <a:off x="7543800" y="6922008"/>
            <a:ext cx="6858000" cy="676656"/>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53527" y="6958584"/>
            <a:ext cx="6638544" cy="594360"/>
          </a:xfrm>
          <a:prstGeom prst="rect">
            <a:avLst/>
          </a:prstGeom>
          <a:noFill/>
        </p:spPr>
        <p:txBody>
          <a:bodyPr wrap="square" lIns="13716" rIns="13716" tIns="13716" bIns="13716">
            <a:spAutoFit/>
          </a:bodyPr>
          <a:lstStyle/>
          <a:p>
            <a:pPr algn="l">
              <a:lnSpc>
                <a:spcPct val="107000"/>
              </a:lnSpc>
              <a:spcBef>
                <a:spcPts val="0"/>
              </a:spcBef>
              <a:spcAft>
                <a:spcPts val="100"/>
              </a:spcAft>
              <a:defRPr sz="1800" b="1">
                <a:solidFill>
                  <a:srgbClr val="062D48"/>
                </a:solidFill>
                <a:latin typeface="Arial"/>
              </a:defRPr>
            </a:pPr>
            <a:r>
              <a:t>Resonance: 5.65 Hz measured / 5.69 Hz model</a:t>
            </a:r>
          </a:p>
          <a:p>
            <a:pPr algn="l">
              <a:lnSpc>
                <a:spcPct val="107000"/>
              </a:lnSpc>
              <a:spcBef>
                <a:spcPts val="0"/>
              </a:spcBef>
              <a:spcAft>
                <a:spcPts val="100"/>
              </a:spcAft>
              <a:defRPr sz="1800" b="1">
                <a:solidFill>
                  <a:srgbClr val="062D48"/>
                </a:solidFill>
                <a:latin typeface="Arial"/>
              </a:defRPr>
            </a:pPr>
            <a:r>
              <a:t>4–10 Hz fit error: 1.65 dB magnitude; 7.02° phase</a:t>
            </a:r>
          </a:p>
        </p:txBody>
      </p:sp>
      <p:sp>
        <p:nvSpPr>
          <p:cNvPr id="44" name="TextBox 43"/>
          <p:cNvSpPr txBox="1"/>
          <p:nvPr/>
        </p:nvSpPr>
        <p:spPr>
          <a:xfrm>
            <a:off x="7543800" y="7808975"/>
            <a:ext cx="6858000" cy="356616"/>
          </a:xfrm>
          <a:prstGeom prst="rect">
            <a:avLst/>
          </a:prstGeom>
          <a:noFill/>
        </p:spPr>
        <p:txBody>
          <a:bodyPr wrap="square" lIns="13716" rIns="13716" tIns="13716" bIns="13716">
            <a:spAutoFit/>
          </a:bodyPr>
          <a:lstStyle/>
          <a:p>
            <a:pPr algn="l">
              <a:lnSpc>
                <a:spcPct val="107000"/>
              </a:lnSpc>
              <a:spcBef>
                <a:spcPts val="0"/>
              </a:spcBef>
              <a:spcAft>
                <a:spcPts val="100"/>
              </a:spcAft>
              <a:defRPr sz="2000" b="1">
                <a:solidFill>
                  <a:srgbClr val="062D48"/>
                </a:solidFill>
                <a:latin typeface="Arial"/>
              </a:defRPr>
            </a:pPr>
            <a:r>
              <a:t>Sensitivity separates attenuation from detuning</a:t>
            </a:r>
          </a:p>
        </p:txBody>
      </p:sp>
      <p:pic>
        <p:nvPicPr>
          <p:cNvPr id="45" name="Picture 44" descr="sensitivity_screen.png"/>
          <p:cNvPicPr>
            <a:picLocks noChangeAspect="1"/>
          </p:cNvPicPr>
          <p:nvPr/>
        </p:nvPicPr>
        <p:blipFill>
          <a:blip r:embed="rId4"/>
          <a:stretch>
            <a:fillRect/>
          </a:stretch>
        </p:blipFill>
        <p:spPr>
          <a:xfrm>
            <a:off x="7543800" y="8257031"/>
            <a:ext cx="6858000" cy="2551176"/>
          </a:xfrm>
          <a:prstGeom prst="rect">
            <a:avLst/>
          </a:prstGeom>
        </p:spPr>
      </p:pic>
      <p:sp>
        <p:nvSpPr>
          <p:cNvPr id="46" name="TextBox 45"/>
          <p:cNvSpPr txBox="1"/>
          <p:nvPr/>
        </p:nvSpPr>
        <p:spPr>
          <a:xfrm>
            <a:off x="7543800" y="10991088"/>
            <a:ext cx="6858000" cy="539496"/>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All 12 parameters were screened. Diameter strongly shifts the peak; Rm, Km, Bm and Bs most strongly change its height.</a:t>
            </a:r>
          </a:p>
        </p:txBody>
      </p:sp>
      <p:sp>
        <p:nvSpPr>
          <p:cNvPr id="47" name="Rectangle 46"/>
          <p:cNvSpPr/>
          <p:nvPr/>
        </p:nvSpPr>
        <p:spPr>
          <a:xfrm>
            <a:off x="14676120" y="1938528"/>
            <a:ext cx="6858000" cy="402336"/>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776704" y="1975104"/>
            <a:ext cx="6656832" cy="320040"/>
          </a:xfrm>
          <a:prstGeom prst="rect">
            <a:avLst/>
          </a:prstGeom>
          <a:noFill/>
        </p:spPr>
        <p:txBody>
          <a:bodyPr wrap="square" lIns="13716" rIns="13716" tIns="13716" bIns="13716">
            <a:spAutoFit/>
          </a:bodyPr>
          <a:lstStyle/>
          <a:p>
            <a:pPr algn="l">
              <a:lnSpc>
                <a:spcPct val="107000"/>
              </a:lnSpc>
              <a:spcBef>
                <a:spcPts val="0"/>
              </a:spcBef>
              <a:spcAft>
                <a:spcPts val="100"/>
              </a:spcAft>
              <a:defRPr sz="2100" b="1">
                <a:solidFill>
                  <a:srgbClr val="FFFFFF"/>
                </a:solidFill>
                <a:latin typeface="Arial"/>
              </a:defRPr>
            </a:pPr>
            <a:r>
              <a:t>3  Four quantified design alternatives</a:t>
            </a:r>
          </a:p>
        </p:txBody>
      </p:sp>
      <p:pic>
        <p:nvPicPr>
          <p:cNvPr id="49" name="Picture 48" descr="four_designs.png"/>
          <p:cNvPicPr>
            <a:picLocks noChangeAspect="1"/>
          </p:cNvPicPr>
          <p:nvPr/>
        </p:nvPicPr>
        <p:blipFill>
          <a:blip r:embed="rId5"/>
          <a:stretch>
            <a:fillRect/>
          </a:stretch>
        </p:blipFill>
        <p:spPr>
          <a:xfrm>
            <a:off x="14676120" y="2496312"/>
            <a:ext cx="6858000" cy="4251960"/>
          </a:xfrm>
          <a:prstGeom prst="rect">
            <a:avLst/>
          </a:prstGeom>
        </p:spPr>
      </p:pic>
      <p:sp>
        <p:nvSpPr>
          <p:cNvPr id="50" name="Rectangle 49"/>
          <p:cNvSpPr/>
          <p:nvPr/>
        </p:nvSpPr>
        <p:spPr>
          <a:xfrm>
            <a:off x="14676120" y="6949440"/>
            <a:ext cx="1901952" cy="329184"/>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749272" y="6981444"/>
            <a:ext cx="1755648"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1">
                <a:solidFill>
                  <a:srgbClr val="FFFFFF"/>
                </a:solidFill>
                <a:latin typeface="Arial"/>
              </a:defRPr>
            </a:pPr>
            <a:r>
              <a:t>Change</a:t>
            </a:r>
          </a:p>
        </p:txBody>
      </p:sp>
      <p:sp>
        <p:nvSpPr>
          <p:cNvPr id="52" name="Rectangle 51"/>
          <p:cNvSpPr/>
          <p:nvPr/>
        </p:nvSpPr>
        <p:spPr>
          <a:xfrm>
            <a:off x="16578072" y="6949440"/>
            <a:ext cx="2532888" cy="329184"/>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6651224" y="6981444"/>
            <a:ext cx="2386584"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1">
                <a:solidFill>
                  <a:srgbClr val="FFFFFF"/>
                </a:solidFill>
                <a:latin typeface="Arial"/>
              </a:defRPr>
            </a:pPr>
            <a:r>
              <a:t>Target value</a:t>
            </a:r>
          </a:p>
        </p:txBody>
      </p:sp>
      <p:sp>
        <p:nvSpPr>
          <p:cNvPr id="54" name="Rectangle 53"/>
          <p:cNvSpPr/>
          <p:nvPr/>
        </p:nvSpPr>
        <p:spPr>
          <a:xfrm>
            <a:off x="19110960" y="6949440"/>
            <a:ext cx="1188720" cy="329184"/>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9184112" y="6981444"/>
            <a:ext cx="104241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1">
                <a:solidFill>
                  <a:srgbClr val="FFFFFF"/>
                </a:solidFill>
                <a:latin typeface="Arial"/>
              </a:defRPr>
            </a:pPr>
            <a:r>
              <a:t>Gain ↓</a:t>
            </a:r>
          </a:p>
        </p:txBody>
      </p:sp>
      <p:sp>
        <p:nvSpPr>
          <p:cNvPr id="56" name="Rectangle 55"/>
          <p:cNvSpPr/>
          <p:nvPr/>
        </p:nvSpPr>
        <p:spPr>
          <a:xfrm>
            <a:off x="20299680" y="6949440"/>
            <a:ext cx="1234440" cy="329184"/>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0372832" y="6981444"/>
            <a:ext cx="108813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1">
                <a:solidFill>
                  <a:srgbClr val="FFFFFF"/>
                </a:solidFill>
                <a:latin typeface="Arial"/>
              </a:defRPr>
            </a:pPr>
            <a:r>
              <a:t>Pulse ↓</a:t>
            </a:r>
          </a:p>
        </p:txBody>
      </p:sp>
      <p:sp>
        <p:nvSpPr>
          <p:cNvPr id="58" name="Rectangle 57"/>
          <p:cNvSpPr/>
          <p:nvPr/>
        </p:nvSpPr>
        <p:spPr>
          <a:xfrm>
            <a:off x="14676120" y="7278624"/>
            <a:ext cx="1901952" cy="329184"/>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749272" y="7310628"/>
            <a:ext cx="1755648"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Resistance</a:t>
            </a:r>
          </a:p>
        </p:txBody>
      </p:sp>
      <p:sp>
        <p:nvSpPr>
          <p:cNvPr id="60" name="Rectangle 59"/>
          <p:cNvSpPr/>
          <p:nvPr/>
        </p:nvSpPr>
        <p:spPr>
          <a:xfrm>
            <a:off x="16578072" y="7278624"/>
            <a:ext cx="2532888" cy="329184"/>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6651224" y="7310628"/>
            <a:ext cx="2386584"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4.10 Ω</a:t>
            </a:r>
          </a:p>
        </p:txBody>
      </p:sp>
      <p:sp>
        <p:nvSpPr>
          <p:cNvPr id="62" name="Rectangle 61"/>
          <p:cNvSpPr/>
          <p:nvPr/>
        </p:nvSpPr>
        <p:spPr>
          <a:xfrm>
            <a:off x="19110960" y="7278624"/>
            <a:ext cx="1188720" cy="329184"/>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9184112" y="7310628"/>
            <a:ext cx="104241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32.7%</a:t>
            </a:r>
          </a:p>
        </p:txBody>
      </p:sp>
      <p:sp>
        <p:nvSpPr>
          <p:cNvPr id="64" name="Rectangle 63"/>
          <p:cNvSpPr/>
          <p:nvPr/>
        </p:nvSpPr>
        <p:spPr>
          <a:xfrm>
            <a:off x="20299680" y="7278624"/>
            <a:ext cx="1234440" cy="329184"/>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0372832" y="7310628"/>
            <a:ext cx="108813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38.5%</a:t>
            </a:r>
          </a:p>
        </p:txBody>
      </p:sp>
      <p:sp>
        <p:nvSpPr>
          <p:cNvPr id="66" name="Rectangle 65"/>
          <p:cNvSpPr/>
          <p:nvPr/>
        </p:nvSpPr>
        <p:spPr>
          <a:xfrm>
            <a:off x="14676120" y="7607808"/>
            <a:ext cx="190195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4749272" y="7639812"/>
            <a:ext cx="1755648"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Motor constant</a:t>
            </a:r>
          </a:p>
        </p:txBody>
      </p:sp>
      <p:sp>
        <p:nvSpPr>
          <p:cNvPr id="68" name="Rectangle 67"/>
          <p:cNvSpPr/>
          <p:nvPr/>
        </p:nvSpPr>
        <p:spPr>
          <a:xfrm>
            <a:off x="16578072" y="7607808"/>
            <a:ext cx="253288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6651224" y="7639812"/>
            <a:ext cx="2386584"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0.053 V·s/rad</a:t>
            </a:r>
          </a:p>
        </p:txBody>
      </p:sp>
      <p:sp>
        <p:nvSpPr>
          <p:cNvPr id="70" name="Rectangle 69"/>
          <p:cNvSpPr/>
          <p:nvPr/>
        </p:nvSpPr>
        <p:spPr>
          <a:xfrm>
            <a:off x="19110960" y="7607808"/>
            <a:ext cx="118872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9184112" y="7639812"/>
            <a:ext cx="104241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34.7%</a:t>
            </a:r>
          </a:p>
        </p:txBody>
      </p:sp>
      <p:sp>
        <p:nvSpPr>
          <p:cNvPr id="72" name="Rectangle 71"/>
          <p:cNvSpPr/>
          <p:nvPr/>
        </p:nvSpPr>
        <p:spPr>
          <a:xfrm>
            <a:off x="20299680" y="7607808"/>
            <a:ext cx="123444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0372832" y="7639812"/>
            <a:ext cx="108813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45.0%</a:t>
            </a:r>
          </a:p>
        </p:txBody>
      </p:sp>
      <p:sp>
        <p:nvSpPr>
          <p:cNvPr id="74" name="Rectangle 73"/>
          <p:cNvSpPr/>
          <p:nvPr/>
        </p:nvSpPr>
        <p:spPr>
          <a:xfrm>
            <a:off x="14676120" y="7936992"/>
            <a:ext cx="1901952" cy="329184"/>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4749272" y="7968996"/>
            <a:ext cx="1755648"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Shaft damping</a:t>
            </a:r>
          </a:p>
        </p:txBody>
      </p:sp>
      <p:sp>
        <p:nvSpPr>
          <p:cNvPr id="76" name="Rectangle 75"/>
          <p:cNvSpPr/>
          <p:nvPr/>
        </p:nvSpPr>
        <p:spPr>
          <a:xfrm>
            <a:off x="16578072" y="7936992"/>
            <a:ext cx="2532888" cy="329184"/>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6651224" y="7968996"/>
            <a:ext cx="2386584"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0.039 N·m·s/rad</a:t>
            </a:r>
          </a:p>
        </p:txBody>
      </p:sp>
      <p:sp>
        <p:nvSpPr>
          <p:cNvPr id="78" name="Rectangle 77"/>
          <p:cNvSpPr/>
          <p:nvPr/>
        </p:nvSpPr>
        <p:spPr>
          <a:xfrm>
            <a:off x="19110960" y="7936992"/>
            <a:ext cx="1188720" cy="329184"/>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9184112" y="7968996"/>
            <a:ext cx="104241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85.9%</a:t>
            </a:r>
          </a:p>
        </p:txBody>
      </p:sp>
      <p:sp>
        <p:nvSpPr>
          <p:cNvPr id="80" name="Rectangle 79"/>
          <p:cNvSpPr/>
          <p:nvPr/>
        </p:nvSpPr>
        <p:spPr>
          <a:xfrm>
            <a:off x="20299680" y="7936992"/>
            <a:ext cx="1234440" cy="329184"/>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0372832" y="7968996"/>
            <a:ext cx="108813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32.2%</a:t>
            </a:r>
          </a:p>
        </p:txBody>
      </p:sp>
      <p:sp>
        <p:nvSpPr>
          <p:cNvPr id="82" name="Rectangle 81"/>
          <p:cNvSpPr/>
          <p:nvPr/>
        </p:nvSpPr>
        <p:spPr>
          <a:xfrm>
            <a:off x="14676120" y="8266175"/>
            <a:ext cx="190195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4749272" y="8298179"/>
            <a:ext cx="1755648"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Motor damping</a:t>
            </a:r>
          </a:p>
        </p:txBody>
      </p:sp>
      <p:sp>
        <p:nvSpPr>
          <p:cNvPr id="84" name="Rectangle 83"/>
          <p:cNvSpPr/>
          <p:nvPr/>
        </p:nvSpPr>
        <p:spPr>
          <a:xfrm>
            <a:off x="16578072" y="8266175"/>
            <a:ext cx="253288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6651224" y="8298179"/>
            <a:ext cx="2386584"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0.077 N·m·s/rad</a:t>
            </a:r>
          </a:p>
        </p:txBody>
      </p:sp>
      <p:sp>
        <p:nvSpPr>
          <p:cNvPr id="86" name="Rectangle 85"/>
          <p:cNvSpPr/>
          <p:nvPr/>
        </p:nvSpPr>
        <p:spPr>
          <a:xfrm>
            <a:off x="19110960" y="8266175"/>
            <a:ext cx="118872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9184112" y="8298179"/>
            <a:ext cx="104241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77.6%</a:t>
            </a:r>
          </a:p>
        </p:txBody>
      </p:sp>
      <p:sp>
        <p:nvSpPr>
          <p:cNvPr id="88" name="Rectangle 87"/>
          <p:cNvSpPr/>
          <p:nvPr/>
        </p:nvSpPr>
        <p:spPr>
          <a:xfrm>
            <a:off x="20299680" y="8266175"/>
            <a:ext cx="123444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0372832" y="8298179"/>
            <a:ext cx="1088136" cy="292608"/>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062D48"/>
                </a:solidFill>
                <a:latin typeface="Arial"/>
              </a:defRPr>
            </a:pPr>
            <a:r>
              <a:t>32.2%</a:t>
            </a:r>
          </a:p>
        </p:txBody>
      </p:sp>
      <p:sp>
        <p:nvSpPr>
          <p:cNvPr id="90" name="TextBox 89"/>
          <p:cNvSpPr txBox="1"/>
          <p:nvPr/>
        </p:nvSpPr>
        <p:spPr>
          <a:xfrm>
            <a:off x="14676120" y="8723376"/>
            <a:ext cx="6858000" cy="612648"/>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062D48"/>
                </a:solidFill>
                <a:latin typeface="Arial"/>
              </a:defRPr>
            </a:pPr>
            <a:r>
              <a:t>Shaft damper: no local peak; gain assessed over 4–10 Hz.</a:t>
            </a:r>
          </a:p>
          <a:p>
            <a:pPr algn="l">
              <a:lnSpc>
                <a:spcPct val="107000"/>
              </a:lnSpc>
              <a:spcBef>
                <a:spcPts val="0"/>
              </a:spcBef>
              <a:spcAft>
                <a:spcPts val="100"/>
              </a:spcAft>
              <a:defRPr sz="1600" b="0">
                <a:solidFill>
                  <a:srgbClr val="062D48"/>
                </a:solidFill>
                <a:latin typeface="Arial"/>
              </a:defRPr>
            </a:pPr>
            <a:r>
              <a:t>All four reduce the 1-Hz response cost by ≥30%.</a:t>
            </a:r>
          </a:p>
        </p:txBody>
      </p:sp>
      <p:pic>
        <p:nvPicPr>
          <p:cNvPr id="91" name="Picture 90" descr="drive_response.png"/>
          <p:cNvPicPr>
            <a:picLocks noChangeAspect="1"/>
          </p:cNvPicPr>
          <p:nvPr/>
        </p:nvPicPr>
        <p:blipFill>
          <a:blip r:embed="rId6"/>
          <a:stretch>
            <a:fillRect/>
          </a:stretch>
        </p:blipFill>
        <p:spPr>
          <a:xfrm>
            <a:off x="14676120" y="9500616"/>
            <a:ext cx="6858000" cy="1426464"/>
          </a:xfrm>
          <a:prstGeom prst="rect">
            <a:avLst/>
          </a:prstGeom>
        </p:spPr>
      </p:pic>
      <p:sp>
        <p:nvSpPr>
          <p:cNvPr id="92" name="TextBox 91"/>
          <p:cNvSpPr txBox="1"/>
          <p:nvPr/>
        </p:nvSpPr>
        <p:spPr>
          <a:xfrm>
            <a:off x="14676120" y="11000232"/>
            <a:ext cx="6858000" cy="512064"/>
          </a:xfrm>
          <a:prstGeom prst="rect">
            <a:avLst/>
          </a:prstGeom>
          <a:noFill/>
        </p:spPr>
        <p:txBody>
          <a:bodyPr wrap="square" lIns="13716" rIns="13716" tIns="13716" bIns="13716">
            <a:spAutoFit/>
          </a:bodyPr>
          <a:lstStyle/>
          <a:p>
            <a:pPr algn="l">
              <a:lnSpc>
                <a:spcPct val="107000"/>
              </a:lnSpc>
              <a:spcBef>
                <a:spcPts val="0"/>
              </a:spcBef>
              <a:spcAft>
                <a:spcPts val="100"/>
              </a:spcAft>
              <a:defRPr sz="1600" b="1">
                <a:solidFill>
                  <a:srgbClr val="062D48"/>
                </a:solidFill>
                <a:latin typeface="Arial"/>
              </a:defRPr>
            </a:pPr>
            <a:r>
              <a:t>Prioritize the shaft damper. Its large damping increase needs hardware testing; the other options sacrifice steady-speed response.</a:t>
            </a:r>
          </a:p>
        </p:txBody>
      </p:sp>
      <p:sp>
        <p:nvSpPr>
          <p:cNvPr id="93" name="Rectangle 92"/>
          <p:cNvSpPr/>
          <p:nvPr/>
        </p:nvSpPr>
        <p:spPr>
          <a:xfrm>
            <a:off x="411480" y="11740896"/>
            <a:ext cx="21122640" cy="32004"/>
          </a:xfrm>
          <a:prstGeom prst="rect">
            <a:avLst/>
          </a:prstGeom>
          <a:solidFill>
            <a:srgbClr val="F3C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38912" y="11878056"/>
            <a:ext cx="21067776" cy="265176"/>
          </a:xfrm>
          <a:prstGeom prst="rect">
            <a:avLst/>
          </a:prstGeom>
          <a:noFill/>
        </p:spPr>
        <p:txBody>
          <a:bodyPr wrap="square" lIns="13716" rIns="13716" tIns="13716" bIns="13716">
            <a:spAutoFit/>
          </a:bodyPr>
          <a:lstStyle/>
          <a:p>
            <a:pPr algn="l">
              <a:lnSpc>
                <a:spcPct val="107000"/>
              </a:lnSpc>
              <a:spcBef>
                <a:spcPts val="0"/>
              </a:spcBef>
              <a:spcAft>
                <a:spcPts val="100"/>
              </a:spcAft>
              <a:defRPr sz="1370" b="0">
                <a:solidFill>
                  <a:srgbClr val="062D48"/>
                </a:solidFill>
                <a:latin typeface="Arial"/>
              </a:defRPr>
            </a:pPr>
            <a:r>
              <a:t>Predictions at fixed voltage, not modified-hardware test results. Pulse: +1 V for 4 s, then driven to 0 V. Sources: task letter; Lab 1_1 / 1_2; student guide. See three-page handout.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