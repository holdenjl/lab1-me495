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945600" cy="12344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10-minute talk: problem and prototype recommendation (1 min), experiments (2 min), model/data comparison (2 min), physical alternatives and switching evidence (3 min), tradeoffs and next tests (2 min). Sensitivity screened all course parameters, then treated the two flywheels separately. Both-wheel diameter changes mainly shift resonance; independent wheel sizes can reduce peak height. The thicker shaft reduces switching motion while the changed wheel inertia lowers the tracked peak. Option 3 predicts a 49.9 Hz mode, beyond the measured 4–10 Hz range: it needs a wider sweep. The oil damper uses two-face Newtonian shear at 25°C, with rotor inertia included; seal and edge drag need measurement. All four are separate alternatives starting from baseline. Percent reductions use linear gain, never dB. Input voltage is upstream of the added resistor. At equal final speed, the resistor and oil damper lose much of their benefit. Red boxes specify the photo/CAD to add.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19456"/>
            <a:ext cx="21122640" cy="694944"/>
          </a:xfrm>
          <a:prstGeom prst="rect">
            <a:avLst/>
          </a:prstGeom>
          <a:noFill/>
        </p:spPr>
        <p:txBody>
          <a:bodyPr wrap="square" lIns="13716" rIns="13716" tIns="13716" bIns="13716">
            <a:spAutoFit/>
          </a:bodyPr>
          <a:lstStyle/>
          <a:p>
            <a:pPr algn="l">
              <a:lnSpc>
                <a:spcPct val="107000"/>
              </a:lnSpc>
              <a:spcBef>
                <a:spcPts val="0"/>
              </a:spcBef>
              <a:spcAft>
                <a:spcPts val="100"/>
              </a:spcAft>
              <a:defRPr sz="4100" b="1">
                <a:solidFill>
                  <a:srgbClr val="062D48"/>
                </a:solidFill>
                <a:latin typeface="Arial"/>
              </a:defRPr>
            </a:pPr>
            <a:r>
              <a:t>Physical changes to reduce flexible-shaft vibration</a:t>
            </a:r>
          </a:p>
        </p:txBody>
      </p:sp>
      <p:sp>
        <p:nvSpPr>
          <p:cNvPr id="3" name="TextBox 2"/>
          <p:cNvSpPr txBox="1"/>
          <p:nvPr/>
        </p:nvSpPr>
        <p:spPr>
          <a:xfrm>
            <a:off x="438912" y="914400"/>
            <a:ext cx="21031200" cy="301752"/>
          </a:xfrm>
          <a:prstGeom prst="rect">
            <a:avLst/>
          </a:prstGeom>
          <a:noFill/>
        </p:spPr>
        <p:txBody>
          <a:bodyPr wrap="square" lIns="13716" rIns="13716" tIns="13716" bIns="13716">
            <a:spAutoFit/>
          </a:bodyPr>
          <a:lstStyle/>
          <a:p>
            <a:pPr algn="l">
              <a:lnSpc>
                <a:spcPct val="107000"/>
              </a:lnSpc>
              <a:spcBef>
                <a:spcPts val="0"/>
              </a:spcBef>
              <a:spcAft>
                <a:spcPts val="100"/>
              </a:spcAft>
              <a:defRPr sz="1900" b="0">
                <a:solidFill>
                  <a:srgbClr val="526577"/>
                </a:solidFill>
                <a:latin typeface="Arial"/>
              </a:defRPr>
            </a:pPr>
            <a:r>
              <a:t>Gulo 3000  |  Powertrain Dynamics Group  |  ME 495  |  Experimental characterization and passive design</a:t>
            </a:r>
          </a:p>
        </p:txBody>
      </p:sp>
      <p:sp>
        <p:nvSpPr>
          <p:cNvPr id="4" name="Rectangle 3"/>
          <p:cNvSpPr/>
          <p:nvPr/>
        </p:nvSpPr>
        <p:spPr>
          <a:xfrm>
            <a:off x="411480" y="1353312"/>
            <a:ext cx="21122640" cy="393192"/>
          </a:xfrm>
          <a:prstGeom prst="rect">
            <a:avLst/>
          </a:prstGeom>
          <a:solidFill>
            <a:srgbClr val="F3C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39496" y="1408176"/>
            <a:ext cx="20848320" cy="301752"/>
          </a:xfrm>
          <a:prstGeom prst="rect">
            <a:avLst/>
          </a:prstGeom>
          <a:noFill/>
        </p:spPr>
        <p:txBody>
          <a:bodyPr wrap="square" lIns="13716" rIns="13716" tIns="13716" bIns="13716">
            <a:spAutoFit/>
          </a:bodyPr>
          <a:lstStyle/>
          <a:p>
            <a:pPr algn="l">
              <a:lnSpc>
                <a:spcPct val="107000"/>
              </a:lnSpc>
              <a:spcBef>
                <a:spcPts val="0"/>
              </a:spcBef>
              <a:spcAft>
                <a:spcPts val="100"/>
              </a:spcAft>
              <a:defRPr sz="2000" b="1">
                <a:solidFill>
                  <a:srgbClr val="062D48"/>
                </a:solidFill>
                <a:latin typeface="Arial"/>
              </a:defRPr>
            </a:pPr>
            <a:r>
              <a:t>Prototype first: 165 mm distal flywheel + 4.50 mm shaft  |  44% lower peak; 39% less switching motion</a:t>
            </a:r>
          </a:p>
        </p:txBody>
      </p:sp>
      <p:sp>
        <p:nvSpPr>
          <p:cNvPr id="6" name="Rectangle 5"/>
          <p:cNvSpPr/>
          <p:nvPr/>
        </p:nvSpPr>
        <p:spPr>
          <a:xfrm>
            <a:off x="411480" y="1901952"/>
            <a:ext cx="6858000" cy="402336"/>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12064" y="1938528"/>
            <a:ext cx="6656832" cy="320040"/>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FFFFFF"/>
                </a:solidFill>
                <a:latin typeface="Arial"/>
              </a:defRPr>
            </a:pPr>
            <a:r>
              <a:t>1  Problem and experimental approach</a:t>
            </a:r>
          </a:p>
        </p:txBody>
      </p:sp>
      <p:sp>
        <p:nvSpPr>
          <p:cNvPr id="8" name="TextBox 7"/>
          <p:cNvSpPr txBox="1"/>
          <p:nvPr/>
        </p:nvSpPr>
        <p:spPr>
          <a:xfrm>
            <a:off x="411480" y="2542032"/>
            <a:ext cx="6858000" cy="612648"/>
          </a:xfrm>
          <a:prstGeom prst="rect">
            <a:avLst/>
          </a:prstGeom>
          <a:noFill/>
        </p:spPr>
        <p:txBody>
          <a:bodyPr wrap="square" lIns="13716" rIns="13716" tIns="13716" bIns="13716">
            <a:spAutoFit/>
          </a:bodyPr>
          <a:lstStyle/>
          <a:p>
            <a:pPr algn="l">
              <a:lnSpc>
                <a:spcPct val="107000"/>
              </a:lnSpc>
              <a:spcBef>
                <a:spcPts val="0"/>
              </a:spcBef>
              <a:spcAft>
                <a:spcPts val="100"/>
              </a:spcAft>
              <a:defRPr sz="1900" b="0">
                <a:solidFill>
                  <a:srgbClr val="062D48"/>
                </a:solidFill>
                <a:latin typeface="Arial"/>
              </a:defRPr>
            </a:pPr>
            <a:r>
              <a:t>Motor switching excites twist between the flywheels.</a:t>
            </a:r>
          </a:p>
          <a:p>
            <a:pPr algn="l">
              <a:lnSpc>
                <a:spcPct val="107000"/>
              </a:lnSpc>
              <a:spcBef>
                <a:spcPts val="0"/>
              </a:spcBef>
              <a:spcAft>
                <a:spcPts val="100"/>
              </a:spcAft>
              <a:defRPr sz="1900" b="0">
                <a:solidFill>
                  <a:srgbClr val="062D48"/>
                </a:solidFill>
                <a:latin typeface="Arial"/>
              </a:defRPr>
            </a:pPr>
            <a:r>
              <a:t>Task: explain the vibration and find four ≥30% solutions.</a:t>
            </a:r>
          </a:p>
        </p:txBody>
      </p:sp>
      <p:sp>
        <p:nvSpPr>
          <p:cNvPr id="9" name="Rectangle 8"/>
          <p:cNvSpPr/>
          <p:nvPr/>
        </p:nvSpPr>
        <p:spPr>
          <a:xfrm>
            <a:off x="411480" y="3300984"/>
            <a:ext cx="6858000" cy="1600200"/>
          </a:xfrm>
          <a:prstGeom prst="rect">
            <a:avLst/>
          </a:prstGeom>
          <a:solidFill>
            <a:srgbClr val="FFF4F4"/>
          </a:solidFill>
          <a:ln w="25400">
            <a:solidFill>
              <a:srgbClr val="C9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9496" y="3383279"/>
            <a:ext cx="6601968" cy="274320"/>
          </a:xfrm>
          <a:prstGeom prst="rect">
            <a:avLst/>
          </a:prstGeom>
          <a:noFill/>
        </p:spPr>
        <p:txBody>
          <a:bodyPr wrap="square" lIns="13716" rIns="13716" tIns="13716" bIns="13716">
            <a:spAutoFit/>
          </a:bodyPr>
          <a:lstStyle/>
          <a:p>
            <a:pPr algn="l">
              <a:lnSpc>
                <a:spcPct val="107000"/>
              </a:lnSpc>
              <a:spcBef>
                <a:spcPts val="0"/>
              </a:spcBef>
              <a:spcAft>
                <a:spcPts val="100"/>
              </a:spcAft>
              <a:defRPr sz="1800" b="1">
                <a:solidFill>
                  <a:srgbClr val="C92934"/>
                </a:solidFill>
                <a:latin typeface="Arial"/>
              </a:defRPr>
            </a:pPr>
            <a:r>
              <a:t>PHOTO TO TAKE — complete test rig</a:t>
            </a:r>
          </a:p>
        </p:txBody>
      </p:sp>
      <p:sp>
        <p:nvSpPr>
          <p:cNvPr id="11" name="TextBox 10"/>
          <p:cNvSpPr txBox="1"/>
          <p:nvPr/>
        </p:nvSpPr>
        <p:spPr>
          <a:xfrm>
            <a:off x="539496" y="3703320"/>
            <a:ext cx="6601968" cy="1143000"/>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C92934"/>
                </a:solidFill>
                <a:latin typeface="Arial"/>
              </a:defRPr>
            </a:pPr>
            <a:r>
              <a:t>Take a clear front/oblique photo. Label the motor, motor-side flywheel, flexible shaft, distal flywheel and both speed sensors. Keep all components visible.</a:t>
            </a:r>
          </a:p>
        </p:txBody>
      </p:sp>
      <p:sp>
        <p:nvSpPr>
          <p:cNvPr id="12" name="Rectangle 11"/>
          <p:cNvSpPr/>
          <p:nvPr/>
        </p:nvSpPr>
        <p:spPr>
          <a:xfrm>
            <a:off x="411480" y="5102352"/>
            <a:ext cx="6858000" cy="1956816"/>
          </a:xfrm>
          <a:prstGeom prst="rect">
            <a:avLst/>
          </a:prstGeom>
          <a:solidFill>
            <a:srgbClr val="FFF4F4"/>
          </a:solidFill>
          <a:ln w="25400">
            <a:solidFill>
              <a:srgbClr val="C9293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39496" y="5184648"/>
            <a:ext cx="6601968" cy="274320"/>
          </a:xfrm>
          <a:prstGeom prst="rect">
            <a:avLst/>
          </a:prstGeom>
          <a:noFill/>
        </p:spPr>
        <p:txBody>
          <a:bodyPr wrap="square" lIns="13716" rIns="13716" tIns="13716" bIns="13716">
            <a:spAutoFit/>
          </a:bodyPr>
          <a:lstStyle/>
          <a:p>
            <a:pPr algn="l">
              <a:lnSpc>
                <a:spcPct val="107000"/>
              </a:lnSpc>
              <a:spcBef>
                <a:spcPts val="0"/>
              </a:spcBef>
              <a:spcAft>
                <a:spcPts val="100"/>
              </a:spcAft>
              <a:defRPr sz="1800" b="1">
                <a:solidFill>
                  <a:srgbClr val="C92934"/>
                </a:solidFill>
                <a:latin typeface="Arial"/>
              </a:defRPr>
            </a:pPr>
            <a:r>
              <a:t>CAD SCREENSHOTS TO ADD — physical changes</a:t>
            </a:r>
          </a:p>
        </p:txBody>
      </p:sp>
      <p:sp>
        <p:nvSpPr>
          <p:cNvPr id="14" name="TextBox 13"/>
          <p:cNvSpPr txBox="1"/>
          <p:nvPr/>
        </p:nvSpPr>
        <p:spPr>
          <a:xfrm>
            <a:off x="539496" y="5504688"/>
            <a:ext cx="6601968" cy="149961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C92934"/>
                </a:solidFill>
                <a:latin typeface="Arial"/>
              </a:defRPr>
            </a:pPr>
            <a:r>
              <a:t>Show the baseline assembly beside option 2: a 165 mm distal wheel and 4.50 mm shaft. Dimension both. Add a small section view of option 4: an 80 mm oil-damper rotor, 1 mm gaps on each face, and a casing fixed to the frame.</a:t>
            </a:r>
          </a:p>
        </p:txBody>
      </p:sp>
      <p:sp>
        <p:nvSpPr>
          <p:cNvPr id="15" name="Rectangle 14"/>
          <p:cNvSpPr/>
          <p:nvPr/>
        </p:nvSpPr>
        <p:spPr>
          <a:xfrm>
            <a:off x="411480" y="7333488"/>
            <a:ext cx="1636776" cy="448056"/>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7434072"/>
            <a:ext cx="1545336" cy="246888"/>
          </a:xfrm>
          <a:prstGeom prst="rect">
            <a:avLst/>
          </a:prstGeom>
          <a:noFill/>
        </p:spPr>
        <p:txBody>
          <a:bodyPr wrap="square" lIns="13716" rIns="13716" tIns="13716" bIns="13716">
            <a:spAutoFit/>
          </a:bodyPr>
          <a:lstStyle/>
          <a:p>
            <a:pPr algn="ctr">
              <a:lnSpc>
                <a:spcPct val="107000"/>
              </a:lnSpc>
              <a:spcBef>
                <a:spcPts val="0"/>
              </a:spcBef>
              <a:spcAft>
                <a:spcPts val="100"/>
              </a:spcAft>
              <a:defRPr sz="1600" b="1">
                <a:solidFill>
                  <a:srgbClr val="007E80"/>
                </a:solidFill>
                <a:latin typeface="Arial"/>
              </a:defRPr>
            </a:pPr>
            <a:r>
              <a:t>MEASURE</a:t>
            </a:r>
          </a:p>
        </p:txBody>
      </p:sp>
      <p:sp>
        <p:nvSpPr>
          <p:cNvPr id="17" name="Rectangle 16"/>
          <p:cNvSpPr/>
          <p:nvPr/>
        </p:nvSpPr>
        <p:spPr>
          <a:xfrm>
            <a:off x="2148840" y="7333488"/>
            <a:ext cx="1636776" cy="448056"/>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194560" y="7434072"/>
            <a:ext cx="1545336" cy="246888"/>
          </a:xfrm>
          <a:prstGeom prst="rect">
            <a:avLst/>
          </a:prstGeom>
          <a:noFill/>
        </p:spPr>
        <p:txBody>
          <a:bodyPr wrap="square" lIns="13716" rIns="13716" tIns="13716" bIns="13716">
            <a:spAutoFit/>
          </a:bodyPr>
          <a:lstStyle/>
          <a:p>
            <a:pPr algn="ctr">
              <a:lnSpc>
                <a:spcPct val="107000"/>
              </a:lnSpc>
              <a:spcBef>
                <a:spcPts val="0"/>
              </a:spcBef>
              <a:spcAft>
                <a:spcPts val="100"/>
              </a:spcAft>
              <a:defRPr sz="1600" b="1">
                <a:solidFill>
                  <a:srgbClr val="007E80"/>
                </a:solidFill>
                <a:latin typeface="Arial"/>
              </a:defRPr>
            </a:pPr>
            <a:r>
              <a:t>IDENTIFY</a:t>
            </a:r>
          </a:p>
        </p:txBody>
      </p:sp>
      <p:sp>
        <p:nvSpPr>
          <p:cNvPr id="19" name="Rectangle 18"/>
          <p:cNvSpPr/>
          <p:nvPr/>
        </p:nvSpPr>
        <p:spPr>
          <a:xfrm>
            <a:off x="3886200" y="7333488"/>
            <a:ext cx="1636776" cy="448056"/>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931920" y="7434072"/>
            <a:ext cx="1545336" cy="246888"/>
          </a:xfrm>
          <a:prstGeom prst="rect">
            <a:avLst/>
          </a:prstGeom>
          <a:noFill/>
        </p:spPr>
        <p:txBody>
          <a:bodyPr wrap="square" lIns="13716" rIns="13716" tIns="13716" bIns="13716">
            <a:spAutoFit/>
          </a:bodyPr>
          <a:lstStyle/>
          <a:p>
            <a:pPr algn="ctr">
              <a:lnSpc>
                <a:spcPct val="107000"/>
              </a:lnSpc>
              <a:spcBef>
                <a:spcPts val="0"/>
              </a:spcBef>
              <a:spcAft>
                <a:spcPts val="100"/>
              </a:spcAft>
              <a:defRPr sz="1600" b="1">
                <a:solidFill>
                  <a:srgbClr val="007E80"/>
                </a:solidFill>
                <a:latin typeface="Arial"/>
              </a:defRPr>
            </a:pPr>
            <a:r>
              <a:t>VALIDATE</a:t>
            </a:r>
          </a:p>
        </p:txBody>
      </p:sp>
      <p:sp>
        <p:nvSpPr>
          <p:cNvPr id="21" name="Rectangle 20"/>
          <p:cNvSpPr/>
          <p:nvPr/>
        </p:nvSpPr>
        <p:spPr>
          <a:xfrm>
            <a:off x="5623559" y="7333488"/>
            <a:ext cx="1636776" cy="448056"/>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669279" y="7434072"/>
            <a:ext cx="1545336" cy="246888"/>
          </a:xfrm>
          <a:prstGeom prst="rect">
            <a:avLst/>
          </a:prstGeom>
          <a:noFill/>
        </p:spPr>
        <p:txBody>
          <a:bodyPr wrap="square" lIns="13716" rIns="13716" tIns="13716" bIns="13716">
            <a:spAutoFit/>
          </a:bodyPr>
          <a:lstStyle/>
          <a:p>
            <a:pPr algn="ctr">
              <a:lnSpc>
                <a:spcPct val="107000"/>
              </a:lnSpc>
              <a:spcBef>
                <a:spcPts val="0"/>
              </a:spcBef>
              <a:spcAft>
                <a:spcPts val="100"/>
              </a:spcAft>
              <a:defRPr sz="1600" b="1">
                <a:solidFill>
                  <a:srgbClr val="007E80"/>
                </a:solidFill>
                <a:latin typeface="Arial"/>
              </a:defRPr>
            </a:pPr>
            <a:r>
              <a:t>COMPARE</a:t>
            </a:r>
          </a:p>
        </p:txBody>
      </p:sp>
      <p:sp>
        <p:nvSpPr>
          <p:cNvPr id="23" name="TextBox 22"/>
          <p:cNvSpPr txBox="1"/>
          <p:nvPr/>
        </p:nvSpPr>
        <p:spPr>
          <a:xfrm>
            <a:off x="411480" y="8046720"/>
            <a:ext cx="6858000" cy="338328"/>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062D48"/>
                </a:solidFill>
                <a:latin typeface="Arial"/>
              </a:defRPr>
            </a:pPr>
            <a:r>
              <a:t>3 frequency sweeps + 28 time recordings</a:t>
            </a:r>
          </a:p>
        </p:txBody>
      </p:sp>
      <p:sp>
        <p:nvSpPr>
          <p:cNvPr id="24" name="TextBox 23"/>
          <p:cNvSpPr txBox="1"/>
          <p:nvPr/>
        </p:nvSpPr>
        <p:spPr>
          <a:xfrm>
            <a:off x="411480" y="8558784"/>
            <a:ext cx="6858000" cy="941832"/>
          </a:xfrm>
          <a:prstGeom prst="rect">
            <a:avLst/>
          </a:prstGeom>
          <a:noFill/>
        </p:spPr>
        <p:txBody>
          <a:bodyPr wrap="square" lIns="13716" rIns="13716" tIns="13716" bIns="13716">
            <a:spAutoFit/>
          </a:bodyPr>
          <a:lstStyle/>
          <a:p>
            <a:pPr algn="l">
              <a:lnSpc>
                <a:spcPct val="107000"/>
              </a:lnSpc>
              <a:spcBef>
                <a:spcPts val="0"/>
              </a:spcBef>
              <a:spcAft>
                <a:spcPts val="100"/>
              </a:spcAft>
              <a:defRPr sz="1900" b="0">
                <a:solidFill>
                  <a:srgbClr val="062D48"/>
                </a:solidFill>
                <a:latin typeface="Arial"/>
              </a:defRPr>
            </a:pPr>
            <a:r>
              <a:t>Steady runs identify the motor. Free-decay and coastdown tests estimate losses. Sweep data refine shaft stiffness and check the flexible model.</a:t>
            </a:r>
          </a:p>
        </p:txBody>
      </p:sp>
      <p:sp>
        <p:nvSpPr>
          <p:cNvPr id="25" name="Rectangle 24"/>
          <p:cNvSpPr/>
          <p:nvPr/>
        </p:nvSpPr>
        <p:spPr>
          <a:xfrm>
            <a:off x="411480" y="9564624"/>
            <a:ext cx="3291840"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84632" y="9596628"/>
            <a:ext cx="314553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1">
                <a:solidFill>
                  <a:srgbClr val="FFFFFF"/>
                </a:solidFill>
                <a:latin typeface="Arial"/>
              </a:defRPr>
            </a:pPr>
            <a:r>
              <a:t>Measured / identified</a:t>
            </a:r>
          </a:p>
        </p:txBody>
      </p:sp>
      <p:sp>
        <p:nvSpPr>
          <p:cNvPr id="27" name="Rectangle 26"/>
          <p:cNvSpPr/>
          <p:nvPr/>
        </p:nvSpPr>
        <p:spPr>
          <a:xfrm>
            <a:off x="3703320" y="9564624"/>
            <a:ext cx="3566160"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76472" y="9596628"/>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1">
                <a:solidFill>
                  <a:srgbClr val="FFFFFF"/>
                </a:solidFill>
                <a:latin typeface="Arial"/>
              </a:defRPr>
            </a:pPr>
            <a:r>
              <a:t>Baseline value</a:t>
            </a:r>
          </a:p>
        </p:txBody>
      </p:sp>
      <p:sp>
        <p:nvSpPr>
          <p:cNvPr id="29" name="Rectangle 28"/>
          <p:cNvSpPr/>
          <p:nvPr/>
        </p:nvSpPr>
        <p:spPr>
          <a:xfrm>
            <a:off x="411480" y="9912096"/>
            <a:ext cx="329184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84632" y="9944100"/>
            <a:ext cx="314553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Resonance</a:t>
            </a:r>
          </a:p>
        </p:txBody>
      </p:sp>
      <p:sp>
        <p:nvSpPr>
          <p:cNvPr id="31" name="Rectangle 30"/>
          <p:cNvSpPr/>
          <p:nvPr/>
        </p:nvSpPr>
        <p:spPr>
          <a:xfrm>
            <a:off x="3703320" y="9912096"/>
            <a:ext cx="356616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776472" y="9944100"/>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5.65 Hz</a:t>
            </a:r>
          </a:p>
        </p:txBody>
      </p:sp>
      <p:sp>
        <p:nvSpPr>
          <p:cNvPr id="33" name="Rectangle 32"/>
          <p:cNvSpPr/>
          <p:nvPr/>
        </p:nvSpPr>
        <p:spPr>
          <a:xfrm>
            <a:off x="411480" y="10259568"/>
            <a:ext cx="329184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84632" y="10291572"/>
            <a:ext cx="314553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Motor resistance</a:t>
            </a:r>
          </a:p>
        </p:txBody>
      </p:sp>
      <p:sp>
        <p:nvSpPr>
          <p:cNvPr id="35" name="Rectangle 34"/>
          <p:cNvSpPr/>
          <p:nvPr/>
        </p:nvSpPr>
        <p:spPr>
          <a:xfrm>
            <a:off x="3703320" y="10259568"/>
            <a:ext cx="35661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776472" y="10291572"/>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2.495 Ω</a:t>
            </a:r>
          </a:p>
        </p:txBody>
      </p:sp>
      <p:sp>
        <p:nvSpPr>
          <p:cNvPr id="37" name="Rectangle 36"/>
          <p:cNvSpPr/>
          <p:nvPr/>
        </p:nvSpPr>
        <p:spPr>
          <a:xfrm>
            <a:off x="411480" y="10607040"/>
            <a:ext cx="329184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 y="10639044"/>
            <a:ext cx="314553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Effective shaft stiffness</a:t>
            </a:r>
          </a:p>
        </p:txBody>
      </p:sp>
      <p:sp>
        <p:nvSpPr>
          <p:cNvPr id="39" name="Rectangle 38"/>
          <p:cNvSpPr/>
          <p:nvPr/>
        </p:nvSpPr>
        <p:spPr>
          <a:xfrm>
            <a:off x="3703320" y="10607040"/>
            <a:ext cx="356616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3776472" y="10639044"/>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2.203 N·m/rad</a:t>
            </a:r>
          </a:p>
        </p:txBody>
      </p:sp>
      <p:sp>
        <p:nvSpPr>
          <p:cNvPr id="41" name="TextBox 40"/>
          <p:cNvSpPr txBox="1"/>
          <p:nvPr/>
        </p:nvSpPr>
        <p:spPr>
          <a:xfrm>
            <a:off x="411480" y="11128248"/>
            <a:ext cx="6858000" cy="539496"/>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526577"/>
                </a:solidFill>
                <a:latin typeface="Arial"/>
              </a:defRPr>
            </a:pPr>
            <a:r>
              <a:t>Coastdown: motor physically uncoupled; both flywheels stayed linked by the shaft.</a:t>
            </a:r>
          </a:p>
        </p:txBody>
      </p:sp>
      <p:sp>
        <p:nvSpPr>
          <p:cNvPr id="42" name="Rectangle 41"/>
          <p:cNvSpPr/>
          <p:nvPr/>
        </p:nvSpPr>
        <p:spPr>
          <a:xfrm>
            <a:off x="7543800" y="1901952"/>
            <a:ext cx="6858000" cy="402336"/>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644383" y="1938528"/>
            <a:ext cx="6656832" cy="320040"/>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FFFFFF"/>
                </a:solidFill>
                <a:latin typeface="Arial"/>
              </a:defRPr>
            </a:pPr>
            <a:r>
              <a:t>2  The flexible model matches the data</a:t>
            </a:r>
          </a:p>
        </p:txBody>
      </p:sp>
      <p:pic>
        <p:nvPicPr>
          <p:cNvPr id="44" name="Picture 43" descr="model_validation.png"/>
          <p:cNvPicPr>
            <a:picLocks noChangeAspect="1"/>
          </p:cNvPicPr>
          <p:nvPr/>
        </p:nvPicPr>
        <p:blipFill>
          <a:blip r:embed="rId2"/>
          <a:stretch>
            <a:fillRect/>
          </a:stretch>
        </p:blipFill>
        <p:spPr>
          <a:xfrm>
            <a:off x="7543800" y="2523744"/>
            <a:ext cx="6858000" cy="4096512"/>
          </a:xfrm>
          <a:prstGeom prst="rect">
            <a:avLst/>
          </a:prstGeom>
        </p:spPr>
      </p:pic>
      <p:sp>
        <p:nvSpPr>
          <p:cNvPr id="45" name="Rectangle 44"/>
          <p:cNvSpPr/>
          <p:nvPr/>
        </p:nvSpPr>
        <p:spPr>
          <a:xfrm>
            <a:off x="7543800" y="6766560"/>
            <a:ext cx="3127248"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7616952" y="6798564"/>
            <a:ext cx="2980944"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1">
                <a:solidFill>
                  <a:srgbClr val="FFFFFF"/>
                </a:solidFill>
                <a:latin typeface="Arial"/>
              </a:defRPr>
            </a:pPr>
            <a:r>
              <a:t>Validation metric</a:t>
            </a:r>
          </a:p>
        </p:txBody>
      </p:sp>
      <p:sp>
        <p:nvSpPr>
          <p:cNvPr id="47" name="Rectangle 46"/>
          <p:cNvSpPr/>
          <p:nvPr/>
        </p:nvSpPr>
        <p:spPr>
          <a:xfrm>
            <a:off x="10671048" y="6766560"/>
            <a:ext cx="1865376"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744200" y="6798564"/>
            <a:ext cx="1719072"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1">
                <a:solidFill>
                  <a:srgbClr val="FFFFFF"/>
                </a:solidFill>
                <a:latin typeface="Arial"/>
              </a:defRPr>
            </a:pPr>
            <a:r>
              <a:t>Measured</a:t>
            </a:r>
          </a:p>
        </p:txBody>
      </p:sp>
      <p:sp>
        <p:nvSpPr>
          <p:cNvPr id="49" name="Rectangle 48"/>
          <p:cNvSpPr/>
          <p:nvPr/>
        </p:nvSpPr>
        <p:spPr>
          <a:xfrm>
            <a:off x="12536424" y="6766560"/>
            <a:ext cx="1865376"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2609576" y="6798564"/>
            <a:ext cx="1719072"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1">
                <a:solidFill>
                  <a:srgbClr val="FFFFFF"/>
                </a:solidFill>
                <a:latin typeface="Arial"/>
              </a:defRPr>
            </a:pPr>
            <a:r>
              <a:t>Model</a:t>
            </a:r>
          </a:p>
        </p:txBody>
      </p:sp>
      <p:sp>
        <p:nvSpPr>
          <p:cNvPr id="51" name="Rectangle 50"/>
          <p:cNvSpPr/>
          <p:nvPr/>
        </p:nvSpPr>
        <p:spPr>
          <a:xfrm>
            <a:off x="7543800" y="7114032"/>
            <a:ext cx="3127248"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7616952" y="7146036"/>
            <a:ext cx="2980944"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Resonance frequency</a:t>
            </a:r>
          </a:p>
        </p:txBody>
      </p:sp>
      <p:sp>
        <p:nvSpPr>
          <p:cNvPr id="53" name="Rectangle 52"/>
          <p:cNvSpPr/>
          <p:nvPr/>
        </p:nvSpPr>
        <p:spPr>
          <a:xfrm>
            <a:off x="10671048" y="7114032"/>
            <a:ext cx="1865376"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744200" y="7146036"/>
            <a:ext cx="1719072"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5.65 Hz</a:t>
            </a:r>
          </a:p>
        </p:txBody>
      </p:sp>
      <p:sp>
        <p:nvSpPr>
          <p:cNvPr id="55" name="Rectangle 54"/>
          <p:cNvSpPr/>
          <p:nvPr/>
        </p:nvSpPr>
        <p:spPr>
          <a:xfrm>
            <a:off x="12536424" y="7114032"/>
            <a:ext cx="1865376"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2609576" y="7146036"/>
            <a:ext cx="1719072"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5.69 Hz</a:t>
            </a:r>
          </a:p>
        </p:txBody>
      </p:sp>
      <p:sp>
        <p:nvSpPr>
          <p:cNvPr id="57" name="Rectangle 56"/>
          <p:cNvSpPr/>
          <p:nvPr/>
        </p:nvSpPr>
        <p:spPr>
          <a:xfrm>
            <a:off x="7543800" y="7461504"/>
            <a:ext cx="3127248"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7616952" y="7493508"/>
            <a:ext cx="2980944"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Peak gain (rad/s/V)</a:t>
            </a:r>
          </a:p>
        </p:txBody>
      </p:sp>
      <p:sp>
        <p:nvSpPr>
          <p:cNvPr id="59" name="Rectangle 58"/>
          <p:cNvSpPr/>
          <p:nvPr/>
        </p:nvSpPr>
        <p:spPr>
          <a:xfrm>
            <a:off x="10671048" y="7461504"/>
            <a:ext cx="186537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744200" y="7493508"/>
            <a:ext cx="1719072"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2.69</a:t>
            </a:r>
          </a:p>
        </p:txBody>
      </p:sp>
      <p:sp>
        <p:nvSpPr>
          <p:cNvPr id="61" name="Rectangle 60"/>
          <p:cNvSpPr/>
          <p:nvPr/>
        </p:nvSpPr>
        <p:spPr>
          <a:xfrm>
            <a:off x="12536424" y="7461504"/>
            <a:ext cx="1865376"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2609576" y="7493508"/>
            <a:ext cx="1719072" cy="310896"/>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062D48"/>
                </a:solidFill>
                <a:latin typeface="Arial"/>
              </a:defRPr>
            </a:pPr>
            <a:r>
              <a:t>2.55</a:t>
            </a:r>
          </a:p>
        </p:txBody>
      </p:sp>
      <p:sp>
        <p:nvSpPr>
          <p:cNvPr id="63" name="TextBox 62"/>
          <p:cNvSpPr txBox="1"/>
          <p:nvPr/>
        </p:nvSpPr>
        <p:spPr>
          <a:xfrm>
            <a:off x="7543800" y="7927848"/>
            <a:ext cx="6858000" cy="374904"/>
          </a:xfrm>
          <a:prstGeom prst="rect">
            <a:avLst/>
          </a:prstGeom>
          <a:noFill/>
        </p:spPr>
        <p:txBody>
          <a:bodyPr wrap="square" lIns="13716" rIns="13716" tIns="13716" bIns="13716">
            <a:spAutoFit/>
          </a:bodyPr>
          <a:lstStyle/>
          <a:p>
            <a:pPr algn="l">
              <a:lnSpc>
                <a:spcPct val="107000"/>
              </a:lnSpc>
              <a:spcBef>
                <a:spcPts val="0"/>
              </a:spcBef>
              <a:spcAft>
                <a:spcPts val="100"/>
              </a:spcAft>
              <a:defRPr sz="1700" b="0">
                <a:solidFill>
                  <a:srgbClr val="526577"/>
                </a:solidFill>
                <a:latin typeface="Arial"/>
              </a:defRPr>
            </a:pPr>
            <a:r>
              <a:t>4–10 Hz fit error: 1.65 dB in gain; 7.02° in phase.</a:t>
            </a:r>
          </a:p>
        </p:txBody>
      </p:sp>
      <p:sp>
        <p:nvSpPr>
          <p:cNvPr id="64" name="TextBox 63"/>
          <p:cNvSpPr txBox="1"/>
          <p:nvPr/>
        </p:nvSpPr>
        <p:spPr>
          <a:xfrm>
            <a:off x="7543800" y="8439912"/>
            <a:ext cx="6858000" cy="347472"/>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062D48"/>
                </a:solidFill>
                <a:latin typeface="Arial"/>
              </a:defRPr>
            </a:pPr>
            <a:r>
              <a:t>Option 2 also reduces switching motion</a:t>
            </a:r>
          </a:p>
        </p:txBody>
      </p:sp>
      <p:pic>
        <p:nvPicPr>
          <p:cNvPr id="65" name="Picture 64" descr="switching_transient.png"/>
          <p:cNvPicPr>
            <a:picLocks noChangeAspect="1"/>
          </p:cNvPicPr>
          <p:nvPr/>
        </p:nvPicPr>
        <p:blipFill>
          <a:blip r:embed="rId3"/>
          <a:stretch>
            <a:fillRect/>
          </a:stretch>
        </p:blipFill>
        <p:spPr>
          <a:xfrm>
            <a:off x="7543800" y="8979408"/>
            <a:ext cx="6858000" cy="2011680"/>
          </a:xfrm>
          <a:prstGeom prst="rect">
            <a:avLst/>
          </a:prstGeom>
        </p:spPr>
      </p:pic>
      <p:sp>
        <p:nvSpPr>
          <p:cNvPr id="66" name="TextBox 65"/>
          <p:cNvSpPr txBox="1"/>
          <p:nvPr/>
        </p:nvSpPr>
        <p:spPr>
          <a:xfrm>
            <a:off x="7543800" y="11137392"/>
            <a:ext cx="6858000" cy="539496"/>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526577"/>
                </a:solidFill>
                <a:latin typeface="Arial"/>
              </a:defRPr>
            </a:pPr>
            <a:r>
              <a:t>Simulation: +1 V for 4 s, then 0 V. Motion = difference between the two wheel speeds.</a:t>
            </a:r>
          </a:p>
        </p:txBody>
      </p:sp>
      <p:sp>
        <p:nvSpPr>
          <p:cNvPr id="67" name="Rectangle 66"/>
          <p:cNvSpPr/>
          <p:nvPr/>
        </p:nvSpPr>
        <p:spPr>
          <a:xfrm>
            <a:off x="14676120" y="1901952"/>
            <a:ext cx="6858000" cy="402336"/>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14776704" y="1938528"/>
            <a:ext cx="6656832" cy="320040"/>
          </a:xfrm>
          <a:prstGeom prst="rect">
            <a:avLst/>
          </a:prstGeom>
          <a:noFill/>
        </p:spPr>
        <p:txBody>
          <a:bodyPr wrap="square" lIns="13716" rIns="13716" tIns="13716" bIns="13716">
            <a:spAutoFit/>
          </a:bodyPr>
          <a:lstStyle/>
          <a:p>
            <a:pPr algn="l">
              <a:lnSpc>
                <a:spcPct val="107000"/>
              </a:lnSpc>
              <a:spcBef>
                <a:spcPts val="0"/>
              </a:spcBef>
              <a:spcAft>
                <a:spcPts val="100"/>
              </a:spcAft>
              <a:defRPr sz="2100" b="1">
                <a:solidFill>
                  <a:srgbClr val="FFFFFF"/>
                </a:solidFill>
                <a:latin typeface="Arial"/>
              </a:defRPr>
            </a:pPr>
            <a:r>
              <a:t>3  Four physical design alternatives</a:t>
            </a:r>
          </a:p>
        </p:txBody>
      </p:sp>
      <p:pic>
        <p:nvPicPr>
          <p:cNvPr id="69" name="Picture 68" descr="four_designs.png"/>
          <p:cNvPicPr>
            <a:picLocks noChangeAspect="1"/>
          </p:cNvPicPr>
          <p:nvPr/>
        </p:nvPicPr>
        <p:blipFill>
          <a:blip r:embed="rId4"/>
          <a:stretch>
            <a:fillRect/>
          </a:stretch>
        </p:blipFill>
        <p:spPr>
          <a:xfrm>
            <a:off x="14676120" y="2532888"/>
            <a:ext cx="6858000" cy="4114800"/>
          </a:xfrm>
          <a:prstGeom prst="rect">
            <a:avLst/>
          </a:prstGeom>
        </p:spPr>
      </p:pic>
      <p:sp>
        <p:nvSpPr>
          <p:cNvPr id="70" name="TextBox 69"/>
          <p:cNvSpPr txBox="1"/>
          <p:nvPr/>
        </p:nvSpPr>
        <p:spPr>
          <a:xfrm>
            <a:off x="14676120" y="6711696"/>
            <a:ext cx="6858000" cy="365760"/>
          </a:xfrm>
          <a:prstGeom prst="rect">
            <a:avLst/>
          </a:prstGeom>
          <a:noFill/>
        </p:spPr>
        <p:txBody>
          <a:bodyPr wrap="square" lIns="13716" rIns="13716" tIns="13716" bIns="13716">
            <a:spAutoFit/>
          </a:bodyPr>
          <a:lstStyle/>
          <a:p>
            <a:pPr algn="l">
              <a:lnSpc>
                <a:spcPct val="107000"/>
              </a:lnSpc>
              <a:spcBef>
                <a:spcPts val="0"/>
              </a:spcBef>
              <a:spcAft>
                <a:spcPts val="100"/>
              </a:spcAft>
              <a:defRPr sz="1560" b="0">
                <a:solidFill>
                  <a:srgbClr val="526577"/>
                </a:solidFill>
                <a:latin typeface="Arial"/>
              </a:defRPr>
            </a:pPr>
            <a:r>
              <a:t>Dotted line: 30% peak reduction. Shading: beyond measured data.</a:t>
            </a:r>
          </a:p>
        </p:txBody>
      </p:sp>
      <p:sp>
        <p:nvSpPr>
          <p:cNvPr id="71" name="Rectangle 70"/>
          <p:cNvSpPr/>
          <p:nvPr/>
        </p:nvSpPr>
        <p:spPr>
          <a:xfrm>
            <a:off x="14676120" y="7232904"/>
            <a:ext cx="3566160"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4749272" y="7264908"/>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1">
                <a:solidFill>
                  <a:srgbClr val="FFFFFF"/>
                </a:solidFill>
                <a:latin typeface="Arial"/>
              </a:defRPr>
            </a:pPr>
            <a:r>
              <a:t>Alternative</a:t>
            </a:r>
          </a:p>
        </p:txBody>
      </p:sp>
      <p:sp>
        <p:nvSpPr>
          <p:cNvPr id="73" name="Rectangle 72"/>
          <p:cNvSpPr/>
          <p:nvPr/>
        </p:nvSpPr>
        <p:spPr>
          <a:xfrm>
            <a:off x="18242280" y="7232904"/>
            <a:ext cx="1645920"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8315431" y="7264908"/>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1">
                <a:solidFill>
                  <a:srgbClr val="FFFFFF"/>
                </a:solidFill>
                <a:latin typeface="Arial"/>
              </a:defRPr>
            </a:pPr>
            <a:r>
              <a:t>Peak ↓</a:t>
            </a:r>
          </a:p>
        </p:txBody>
      </p:sp>
      <p:sp>
        <p:nvSpPr>
          <p:cNvPr id="75" name="Rectangle 74"/>
          <p:cNvSpPr/>
          <p:nvPr/>
        </p:nvSpPr>
        <p:spPr>
          <a:xfrm>
            <a:off x="19888200" y="7232904"/>
            <a:ext cx="1645920" cy="347472"/>
          </a:xfrm>
          <a:prstGeom prst="rect">
            <a:avLst/>
          </a:prstGeom>
          <a:solidFill>
            <a:srgbClr val="062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9961352" y="7264908"/>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1">
                <a:solidFill>
                  <a:srgbClr val="FFFFFF"/>
                </a:solidFill>
                <a:latin typeface="Arial"/>
              </a:defRPr>
            </a:pPr>
            <a:r>
              <a:t>Motion ↓</a:t>
            </a:r>
          </a:p>
        </p:txBody>
      </p:sp>
      <p:sp>
        <p:nvSpPr>
          <p:cNvPr id="77" name="Rectangle 76"/>
          <p:cNvSpPr/>
          <p:nvPr/>
        </p:nvSpPr>
        <p:spPr>
          <a:xfrm>
            <a:off x="14676120" y="7580376"/>
            <a:ext cx="356616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4749272" y="7612380"/>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1  Series resistor</a:t>
            </a:r>
          </a:p>
        </p:txBody>
      </p:sp>
      <p:sp>
        <p:nvSpPr>
          <p:cNvPr id="79" name="Rectangle 78"/>
          <p:cNvSpPr/>
          <p:nvPr/>
        </p:nvSpPr>
        <p:spPr>
          <a:xfrm>
            <a:off x="18242280" y="7580376"/>
            <a:ext cx="164592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8315431" y="7612380"/>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33%</a:t>
            </a:r>
          </a:p>
        </p:txBody>
      </p:sp>
      <p:sp>
        <p:nvSpPr>
          <p:cNvPr id="81" name="Rectangle 80"/>
          <p:cNvSpPr/>
          <p:nvPr/>
        </p:nvSpPr>
        <p:spPr>
          <a:xfrm>
            <a:off x="19888200" y="7580376"/>
            <a:ext cx="164592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19961352" y="7612380"/>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38%</a:t>
            </a:r>
          </a:p>
        </p:txBody>
      </p:sp>
      <p:sp>
        <p:nvSpPr>
          <p:cNvPr id="83" name="Rectangle 82"/>
          <p:cNvSpPr/>
          <p:nvPr/>
        </p:nvSpPr>
        <p:spPr>
          <a:xfrm>
            <a:off x="14676120" y="7927848"/>
            <a:ext cx="35661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14749272" y="7959852"/>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2  Larger distal wheel + shaft</a:t>
            </a:r>
          </a:p>
        </p:txBody>
      </p:sp>
      <p:sp>
        <p:nvSpPr>
          <p:cNvPr id="85" name="Rectangle 84"/>
          <p:cNvSpPr/>
          <p:nvPr/>
        </p:nvSpPr>
        <p:spPr>
          <a:xfrm>
            <a:off x="18242280" y="7927848"/>
            <a:ext cx="16459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8315431" y="7959852"/>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44%</a:t>
            </a:r>
          </a:p>
        </p:txBody>
      </p:sp>
      <p:sp>
        <p:nvSpPr>
          <p:cNvPr id="87" name="Rectangle 86"/>
          <p:cNvSpPr/>
          <p:nvPr/>
        </p:nvSpPr>
        <p:spPr>
          <a:xfrm>
            <a:off x="19888200" y="7927848"/>
            <a:ext cx="16459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9961352" y="7959852"/>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39%</a:t>
            </a:r>
          </a:p>
        </p:txBody>
      </p:sp>
      <p:sp>
        <p:nvSpPr>
          <p:cNvPr id="89" name="Rectangle 88"/>
          <p:cNvSpPr/>
          <p:nvPr/>
        </p:nvSpPr>
        <p:spPr>
          <a:xfrm>
            <a:off x="14676120" y="8275320"/>
            <a:ext cx="356616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14749272" y="8307324"/>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3  Smaller motor wheel + shaft</a:t>
            </a:r>
          </a:p>
        </p:txBody>
      </p:sp>
      <p:sp>
        <p:nvSpPr>
          <p:cNvPr id="91" name="Rectangle 90"/>
          <p:cNvSpPr/>
          <p:nvPr/>
        </p:nvSpPr>
        <p:spPr>
          <a:xfrm>
            <a:off x="18242280" y="8275320"/>
            <a:ext cx="164592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18315431" y="8307324"/>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57%</a:t>
            </a:r>
          </a:p>
        </p:txBody>
      </p:sp>
      <p:sp>
        <p:nvSpPr>
          <p:cNvPr id="93" name="Rectangle 92"/>
          <p:cNvSpPr/>
          <p:nvPr/>
        </p:nvSpPr>
        <p:spPr>
          <a:xfrm>
            <a:off x="19888200" y="8275320"/>
            <a:ext cx="1645920" cy="347472"/>
          </a:xfrm>
          <a:prstGeom prst="rect">
            <a:avLst/>
          </a:prstGeom>
          <a:solidFill>
            <a:srgbClr val="EDF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19961352" y="8307324"/>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67%</a:t>
            </a:r>
          </a:p>
        </p:txBody>
      </p:sp>
      <p:sp>
        <p:nvSpPr>
          <p:cNvPr id="95" name="Rectangle 94"/>
          <p:cNvSpPr/>
          <p:nvPr/>
        </p:nvSpPr>
        <p:spPr>
          <a:xfrm>
            <a:off x="14676120" y="8622792"/>
            <a:ext cx="356616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4749272" y="8654796"/>
            <a:ext cx="341985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4  Motor-side oil damper</a:t>
            </a:r>
          </a:p>
        </p:txBody>
      </p:sp>
      <p:sp>
        <p:nvSpPr>
          <p:cNvPr id="97" name="Rectangle 96"/>
          <p:cNvSpPr/>
          <p:nvPr/>
        </p:nvSpPr>
        <p:spPr>
          <a:xfrm>
            <a:off x="18242280" y="8622792"/>
            <a:ext cx="16459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18315431" y="8654796"/>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78%</a:t>
            </a:r>
          </a:p>
        </p:txBody>
      </p:sp>
      <p:sp>
        <p:nvSpPr>
          <p:cNvPr id="99" name="Rectangle 98"/>
          <p:cNvSpPr/>
          <p:nvPr/>
        </p:nvSpPr>
        <p:spPr>
          <a:xfrm>
            <a:off x="19888200" y="8622792"/>
            <a:ext cx="1645920"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9961352" y="8654796"/>
            <a:ext cx="1499616" cy="310896"/>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35%</a:t>
            </a:r>
          </a:p>
        </p:txBody>
      </p:sp>
      <p:sp>
        <p:nvSpPr>
          <p:cNvPr id="101" name="TextBox 100"/>
          <p:cNvSpPr txBox="1"/>
          <p:nvPr/>
        </p:nvSpPr>
        <p:spPr>
          <a:xfrm>
            <a:off x="14676120" y="9198864"/>
            <a:ext cx="6858000" cy="393192"/>
          </a:xfrm>
          <a:prstGeom prst="rect">
            <a:avLst/>
          </a:prstGeom>
          <a:noFill/>
        </p:spPr>
        <p:txBody>
          <a:bodyPr wrap="square" lIns="13716" rIns="13716" tIns="13716" bIns="13716">
            <a:spAutoFit/>
          </a:bodyPr>
          <a:lstStyle/>
          <a:p>
            <a:pPr algn="l">
              <a:lnSpc>
                <a:spcPct val="107000"/>
              </a:lnSpc>
              <a:spcBef>
                <a:spcPts val="0"/>
              </a:spcBef>
              <a:spcAft>
                <a:spcPts val="100"/>
              </a:spcAft>
              <a:defRPr sz="1700" b="1">
                <a:solidFill>
                  <a:srgbClr val="007E80"/>
                </a:solidFill>
                <a:latin typeface="Arial"/>
              </a:defRPr>
            </a:pPr>
            <a:r>
              <a:t>All four also reduce the 1-Hz response cost by ≥30%.</a:t>
            </a:r>
          </a:p>
        </p:txBody>
      </p:sp>
      <p:sp>
        <p:nvSpPr>
          <p:cNvPr id="102" name="TextBox 101"/>
          <p:cNvSpPr txBox="1"/>
          <p:nvPr/>
        </p:nvSpPr>
        <p:spPr>
          <a:xfrm>
            <a:off x="14676120" y="9774936"/>
            <a:ext cx="6858000" cy="1124712"/>
          </a:xfrm>
          <a:prstGeom prst="rect">
            <a:avLst/>
          </a:prstGeom>
          <a:noFill/>
        </p:spPr>
        <p:txBody>
          <a:bodyPr wrap="square" lIns="13716" rIns="13716" tIns="13716" bIns="13716">
            <a:spAutoFit/>
          </a:bodyPr>
          <a:lstStyle/>
          <a:p>
            <a:pPr algn="l">
              <a:lnSpc>
                <a:spcPct val="107000"/>
              </a:lnSpc>
              <a:spcBef>
                <a:spcPts val="0"/>
              </a:spcBef>
              <a:spcAft>
                <a:spcPts val="100"/>
              </a:spcAft>
              <a:defRPr sz="1650" b="0">
                <a:solidFill>
                  <a:srgbClr val="062D48"/>
                </a:solidFill>
                <a:latin typeface="Arial"/>
              </a:defRPr>
            </a:pPr>
            <a:r>
              <a:t>1  Wire a 1.6 Ω power resistor in series; steady speed falls 29%.</a:t>
            </a:r>
          </a:p>
          <a:p>
            <a:pPr algn="l">
              <a:lnSpc>
                <a:spcPct val="107000"/>
              </a:lnSpc>
              <a:spcBef>
                <a:spcPts val="0"/>
              </a:spcBef>
              <a:spcAft>
                <a:spcPts val="100"/>
              </a:spcAft>
              <a:defRPr sz="1650" b="0">
                <a:solidFill>
                  <a:srgbClr val="062D48"/>
                </a:solidFill>
                <a:latin typeface="Arial"/>
              </a:defRPr>
            </a:pPr>
            <a:r>
              <a:t>2  Fit a 165 mm distal wheel + 4.50 mm shaft; preserves speed.</a:t>
            </a:r>
          </a:p>
          <a:p>
            <a:pPr algn="l">
              <a:lnSpc>
                <a:spcPct val="107000"/>
              </a:lnSpc>
              <a:spcBef>
                <a:spcPts val="0"/>
              </a:spcBef>
              <a:spcAft>
                <a:spcPts val="100"/>
              </a:spcAft>
              <a:defRPr sz="1650" b="0">
                <a:solidFill>
                  <a:srgbClr val="062D48"/>
                </a:solidFill>
                <a:latin typeface="Arial"/>
              </a:defRPr>
            </a:pPr>
            <a:r>
              <a:t>3  Fit a 105 mm motor wheel + 8.00 mm shaft; retest to 60 Hz.</a:t>
            </a:r>
          </a:p>
          <a:p>
            <a:pPr algn="l">
              <a:lnSpc>
                <a:spcPct val="107000"/>
              </a:lnSpc>
              <a:spcBef>
                <a:spcPts val="0"/>
              </a:spcBef>
              <a:spcAft>
                <a:spcPts val="100"/>
              </a:spcAft>
              <a:defRPr sz="1650" b="0">
                <a:solidFill>
                  <a:srgbClr val="062D48"/>
                </a:solidFill>
                <a:latin typeface="Arial"/>
              </a:defRPr>
            </a:pPr>
            <a:r>
              <a:t>4  Add an oil rotor in a fixed casing; steady speed falls 88%.</a:t>
            </a:r>
          </a:p>
        </p:txBody>
      </p:sp>
      <p:sp>
        <p:nvSpPr>
          <p:cNvPr id="103" name="TextBox 102"/>
          <p:cNvSpPr txBox="1"/>
          <p:nvPr/>
        </p:nvSpPr>
        <p:spPr>
          <a:xfrm>
            <a:off x="14676120" y="11137392"/>
            <a:ext cx="6858000" cy="402336"/>
          </a:xfrm>
          <a:prstGeom prst="rect">
            <a:avLst/>
          </a:prstGeom>
          <a:noFill/>
        </p:spPr>
        <p:txBody>
          <a:bodyPr wrap="square" lIns="13716" rIns="13716" tIns="13716" bIns="13716">
            <a:spAutoFit/>
          </a:bodyPr>
          <a:lstStyle/>
          <a:p>
            <a:pPr algn="l">
              <a:lnSpc>
                <a:spcPct val="107000"/>
              </a:lnSpc>
              <a:spcBef>
                <a:spcPts val="0"/>
              </a:spcBef>
              <a:spcAft>
                <a:spcPts val="100"/>
              </a:spcAft>
              <a:defRPr sz="1600" b="0">
                <a:solidFill>
                  <a:srgbClr val="526577"/>
                </a:solidFill>
                <a:latin typeface="Arial"/>
              </a:defRPr>
            </a:pPr>
            <a:r>
              <a:t>Full dimensions, mounting details and limitations: handout p. 3.</a:t>
            </a:r>
          </a:p>
        </p:txBody>
      </p:sp>
      <p:sp>
        <p:nvSpPr>
          <p:cNvPr id="104" name="Rectangle 103"/>
          <p:cNvSpPr/>
          <p:nvPr/>
        </p:nvSpPr>
        <p:spPr>
          <a:xfrm>
            <a:off x="411480" y="11731752"/>
            <a:ext cx="21122640" cy="32004"/>
          </a:xfrm>
          <a:prstGeom prst="rect">
            <a:avLst/>
          </a:prstGeom>
          <a:solidFill>
            <a:srgbClr val="F3C8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TextBox 104"/>
          <p:cNvSpPr txBox="1"/>
          <p:nvPr/>
        </p:nvSpPr>
        <p:spPr>
          <a:xfrm>
            <a:off x="438912" y="11887200"/>
            <a:ext cx="21031200" cy="256032"/>
          </a:xfrm>
          <a:prstGeom prst="rect">
            <a:avLst/>
          </a:prstGeom>
          <a:noFill/>
        </p:spPr>
        <p:txBody>
          <a:bodyPr wrap="square" lIns="13716" rIns="13716" tIns="13716" bIns="13716">
            <a:spAutoFit/>
          </a:bodyPr>
          <a:lstStyle/>
          <a:p>
            <a:pPr algn="l">
              <a:lnSpc>
                <a:spcPct val="107000"/>
              </a:lnSpc>
              <a:spcBef>
                <a:spcPts val="0"/>
              </a:spcBef>
              <a:spcAft>
                <a:spcPts val="100"/>
              </a:spcAft>
              <a:defRPr sz="1350" b="0">
                <a:solidFill>
                  <a:srgbClr val="062D48"/>
                </a:solidFill>
                <a:latin typeface="Arial"/>
              </a:defRPr>
            </a:pPr>
            <a:r>
              <a:t>Model predictions at equal voltage; modified hardware has not been tested. Geometry changes stiffness/inertia; extra damping needs a physical dissipater. Sources: task letter; Lab 1_1 / 1_2; handout references.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