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oboto"/>
      <p:regular r:id="rId15"/>
      <p:bold r:id="rId16"/>
      <p:italic r:id="rId17"/>
      <p:boldItalic r:id="rId18"/>
    </p:embeddedFont>
    <p:embeddedFont>
      <p:font typeface="Roboto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23AECF-CA3E-4763-B325-B36E7C5BADDE}">
  <a:tblStyle styleId="{7F23AECF-CA3E-4763-B325-B36E7C5BADD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edium-bold.fntdata"/><Relationship Id="rId11" Type="http://schemas.openxmlformats.org/officeDocument/2006/relationships/slide" Target="slides/slide5.xml"/><Relationship Id="rId22" Type="http://schemas.openxmlformats.org/officeDocument/2006/relationships/font" Target="fonts/RobotoMedium-boldItalic.fntdata"/><Relationship Id="rId10" Type="http://schemas.openxmlformats.org/officeDocument/2006/relationships/slide" Target="slides/slide4.xml"/><Relationship Id="rId21" Type="http://schemas.openxmlformats.org/officeDocument/2006/relationships/font" Target="fonts/RobotoMedium-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oboto-regular.fntdata"/><Relationship Id="rId14" Type="http://schemas.openxmlformats.org/officeDocument/2006/relationships/slide" Target="slides/slide8.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slideMaster" Target="slideMasters/slideMaster1.xml"/><Relationship Id="rId19" Type="http://schemas.openxmlformats.org/officeDocument/2006/relationships/font" Target="fonts/RobotoMedium-regular.fntdata"/><Relationship Id="rId6" Type="http://schemas.openxmlformats.org/officeDocument/2006/relationships/notesMaster" Target="notesMasters/notesMaster1.xml"/><Relationship Id="rId18"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aae318bae_0_0:notes"/>
          <p:cNvSpPr/>
          <p:nvPr>
            <p:ph idx="2" type="sldImg"/>
          </p:nvPr>
        </p:nvSpPr>
        <p:spPr>
          <a:xfrm>
            <a:off x="381286"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faae318ba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sz="1200">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3569d7337e4731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h3569d7337e4731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11:30-1:30 presentations time</a:t>
            </a:r>
            <a:endParaRPr sz="1500"/>
          </a:p>
          <a:p>
            <a:pPr indent="0" lvl="0" marL="0" rtl="0" algn="l">
              <a:spcBef>
                <a:spcPts val="0"/>
              </a:spcBef>
              <a:spcAft>
                <a:spcPts val="0"/>
              </a:spcAft>
              <a:buNone/>
            </a:pPr>
            <a:r>
              <a:rPr lang="en" sz="1500"/>
              <a:t>We will have 10min to present, and we will be presenting to experts and non-experts</a:t>
            </a:r>
            <a:endParaRPr sz="1500"/>
          </a:p>
          <a:p>
            <a:pPr indent="0" lvl="0" marL="0" rtl="0" algn="l">
              <a:spcBef>
                <a:spcPts val="0"/>
              </a:spcBef>
              <a:spcAft>
                <a:spcPts val="0"/>
              </a:spcAft>
              <a:buNone/>
            </a:pPr>
            <a:r>
              <a:rPr lang="en" sz="1500"/>
              <a:t>We will have 4min Q&amp;A</a:t>
            </a:r>
            <a:endParaRPr sz="1500"/>
          </a:p>
          <a:p>
            <a:pPr indent="0" lvl="0" marL="0" rtl="0" algn="l">
              <a:spcBef>
                <a:spcPts val="0"/>
              </a:spcBef>
              <a:spcAft>
                <a:spcPts val="0"/>
              </a:spcAft>
              <a:buNone/>
            </a:pPr>
            <a:r>
              <a:rPr lang="en" sz="1500"/>
              <a:t>Bring 4 printed copies of the poster and handout</a:t>
            </a:r>
            <a:endParaRPr sz="15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aae318ba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aae318ba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aae318bae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aae318bae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Information in Poster: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PROBLEM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APPROACHES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KEY FINDINGS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IMPACT OF SOLUTION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b5071e4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b5071e4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b95c0c6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fb95c0c6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409ef8c85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409ef8c85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223879" y="1507083"/>
            <a:ext cx="2715000" cy="174000"/>
          </a:xfrm>
          <a:prstGeom prst="rect">
            <a:avLst/>
          </a:prstGeom>
          <a:solidFill>
            <a:srgbClr val="00274C"/>
          </a:solidFill>
          <a:ln cap="flat" cmpd="sng" w="2150">
            <a:solidFill>
              <a:schemeClr val="dk2"/>
            </a:solidFill>
            <a:prstDash val="solid"/>
            <a:round/>
            <a:headEnd len="sm" w="sm" type="none"/>
            <a:tailEnd len="sm" w="sm" type="none"/>
          </a:ln>
        </p:spPr>
        <p:txBody>
          <a:bodyPr anchorCtr="0" anchor="ctr" bIns="17550" lIns="17550" spcFirstLastPara="1" rIns="17550" wrap="square" tIns="175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55" name="Google Shape;55;p13"/>
          <p:cNvSpPr txBox="1"/>
          <p:nvPr/>
        </p:nvSpPr>
        <p:spPr>
          <a:xfrm>
            <a:off x="203201" y="112947"/>
            <a:ext cx="8876400" cy="297000"/>
          </a:xfrm>
          <a:prstGeom prst="rect">
            <a:avLst/>
          </a:prstGeom>
          <a:noFill/>
          <a:ln>
            <a:noFill/>
          </a:ln>
        </p:spPr>
        <p:txBody>
          <a:bodyPr anchorCtr="0" anchor="t" bIns="17550" lIns="17550" spcFirstLastPara="1" rIns="17550" wrap="square" tIns="17550">
            <a:spAutoFit/>
          </a:bodyPr>
          <a:lstStyle/>
          <a:p>
            <a:pPr indent="0" lvl="0" marL="0" marR="0" rtl="0" algn="l">
              <a:lnSpc>
                <a:spcPct val="100000"/>
              </a:lnSpc>
              <a:spcBef>
                <a:spcPts val="0"/>
              </a:spcBef>
              <a:spcAft>
                <a:spcPts val="0"/>
              </a:spcAft>
              <a:buClr>
                <a:schemeClr val="dk1"/>
              </a:buClr>
              <a:buSzPts val="200"/>
              <a:buFont typeface="Arial"/>
              <a:buNone/>
            </a:pPr>
            <a:r>
              <a:rPr b="1" lang="en" sz="1700">
                <a:latin typeface="Roboto"/>
                <a:ea typeface="Roboto"/>
                <a:cs typeface="Roboto"/>
                <a:sym typeface="Roboto"/>
              </a:rPr>
              <a:t>Reducing Drive Shaft Vibrations in Gulo 3000 Prototype H</a:t>
            </a:r>
            <a:r>
              <a:rPr b="1" lang="en" sz="1700">
                <a:latin typeface="Roboto"/>
                <a:ea typeface="Roboto"/>
                <a:cs typeface="Roboto"/>
                <a:sym typeface="Roboto"/>
              </a:rPr>
              <a:t>ybrid</a:t>
            </a:r>
            <a:r>
              <a:rPr b="1" lang="en" sz="1700">
                <a:latin typeface="Roboto"/>
                <a:ea typeface="Roboto"/>
                <a:cs typeface="Roboto"/>
                <a:sym typeface="Roboto"/>
              </a:rPr>
              <a:t> Electric Model</a:t>
            </a:r>
            <a:endParaRPr b="1" i="0" sz="1700" u="none" cap="none" strike="noStrike">
              <a:solidFill>
                <a:srgbClr val="000000"/>
              </a:solidFill>
              <a:latin typeface="Roboto"/>
              <a:ea typeface="Roboto"/>
              <a:cs typeface="Roboto"/>
              <a:sym typeface="Roboto"/>
            </a:endParaRPr>
          </a:p>
        </p:txBody>
      </p:sp>
      <p:cxnSp>
        <p:nvCxnSpPr>
          <p:cNvPr id="56" name="Google Shape;56;p13"/>
          <p:cNvCxnSpPr/>
          <p:nvPr/>
        </p:nvCxnSpPr>
        <p:spPr>
          <a:xfrm>
            <a:off x="143020" y="625044"/>
            <a:ext cx="8706900" cy="0"/>
          </a:xfrm>
          <a:prstGeom prst="straightConnector1">
            <a:avLst/>
          </a:prstGeom>
          <a:noFill/>
          <a:ln cap="flat" cmpd="sng" w="2150">
            <a:solidFill>
              <a:schemeClr val="dk2"/>
            </a:solidFill>
            <a:prstDash val="solid"/>
            <a:round/>
            <a:headEnd len="sm" w="sm" type="none"/>
            <a:tailEnd len="sm" w="sm" type="none"/>
          </a:ln>
        </p:spPr>
      </p:cxnSp>
      <p:sp>
        <p:nvSpPr>
          <p:cNvPr id="57" name="Google Shape;57;p13"/>
          <p:cNvSpPr/>
          <p:nvPr/>
        </p:nvSpPr>
        <p:spPr>
          <a:xfrm>
            <a:off x="229443" y="686025"/>
            <a:ext cx="2715000" cy="174000"/>
          </a:xfrm>
          <a:prstGeom prst="rect">
            <a:avLst/>
          </a:prstGeom>
          <a:solidFill>
            <a:srgbClr val="00274C"/>
          </a:solidFill>
          <a:ln cap="flat" cmpd="sng" w="2150">
            <a:solidFill>
              <a:schemeClr val="dk2"/>
            </a:solidFill>
            <a:prstDash val="solid"/>
            <a:round/>
            <a:headEnd len="sm" w="sm" type="none"/>
            <a:tailEnd len="sm" w="sm" type="none"/>
          </a:ln>
        </p:spPr>
        <p:txBody>
          <a:bodyPr anchorCtr="0" anchor="ctr" bIns="17550" lIns="17550" spcFirstLastPara="1" rIns="17550" wrap="square" tIns="175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58" name="Google Shape;58;p13"/>
          <p:cNvSpPr txBox="1"/>
          <p:nvPr/>
        </p:nvSpPr>
        <p:spPr>
          <a:xfrm>
            <a:off x="370496" y="686342"/>
            <a:ext cx="2434500" cy="158700"/>
          </a:xfrm>
          <a:prstGeom prst="rect">
            <a:avLst/>
          </a:prstGeom>
          <a:noFill/>
          <a:ln>
            <a:noFill/>
          </a:ln>
        </p:spPr>
        <p:txBody>
          <a:bodyPr anchorCtr="0" anchor="t" bIns="17550" lIns="17550" spcFirstLastPara="1" rIns="17550" wrap="square" tIns="17550">
            <a:spAutoFit/>
          </a:bodyPr>
          <a:lstStyle/>
          <a:p>
            <a:pPr indent="0" lvl="0" marL="0" marR="0" rtl="0" algn="ctr">
              <a:lnSpc>
                <a:spcPct val="100000"/>
              </a:lnSpc>
              <a:spcBef>
                <a:spcPts val="0"/>
              </a:spcBef>
              <a:spcAft>
                <a:spcPts val="0"/>
              </a:spcAft>
              <a:buClr>
                <a:srgbClr val="000000"/>
              </a:buClr>
              <a:buSzPts val="900"/>
              <a:buFont typeface="Arial"/>
              <a:buNone/>
            </a:pPr>
            <a:r>
              <a:rPr lang="en" sz="800">
                <a:solidFill>
                  <a:schemeClr val="lt1"/>
                </a:solidFill>
                <a:latin typeface="Roboto Medium"/>
                <a:ea typeface="Roboto Medium"/>
                <a:cs typeface="Roboto Medium"/>
                <a:sym typeface="Roboto Medium"/>
              </a:rPr>
              <a:t>Background</a:t>
            </a:r>
            <a:endParaRPr b="0" i="0" sz="800" u="none" cap="none" strike="noStrike">
              <a:solidFill>
                <a:schemeClr val="lt1"/>
              </a:solidFill>
              <a:latin typeface="Roboto Medium"/>
              <a:ea typeface="Roboto Medium"/>
              <a:cs typeface="Roboto Medium"/>
              <a:sym typeface="Roboto Medium"/>
            </a:endParaRPr>
          </a:p>
        </p:txBody>
      </p:sp>
      <p:sp>
        <p:nvSpPr>
          <p:cNvPr id="59" name="Google Shape;59;p13"/>
          <p:cNvSpPr txBox="1"/>
          <p:nvPr/>
        </p:nvSpPr>
        <p:spPr>
          <a:xfrm>
            <a:off x="230137" y="878866"/>
            <a:ext cx="2737800" cy="555000"/>
          </a:xfrm>
          <a:prstGeom prst="rect">
            <a:avLst/>
          </a:prstGeom>
          <a:noFill/>
          <a:ln>
            <a:noFill/>
          </a:ln>
        </p:spPr>
        <p:txBody>
          <a:bodyPr anchorCtr="0" anchor="t" bIns="17550" lIns="17550" spcFirstLastPara="1" rIns="17550" wrap="square" tIns="17550">
            <a:spAutoFit/>
          </a:bodyPr>
          <a:lstStyle/>
          <a:p>
            <a:pPr indent="0" lvl="0" marL="0" rtl="0" algn="just">
              <a:lnSpc>
                <a:spcPct val="115000"/>
              </a:lnSpc>
              <a:spcBef>
                <a:spcPts val="0"/>
              </a:spcBef>
              <a:spcAft>
                <a:spcPts val="0"/>
              </a:spcAft>
              <a:buClr>
                <a:schemeClr val="dk1"/>
              </a:buClr>
              <a:buSzPts val="1100"/>
              <a:buFont typeface="Arial"/>
              <a:buNone/>
            </a:pPr>
            <a:r>
              <a:rPr lang="en" sz="500">
                <a:solidFill>
                  <a:schemeClr val="dk1"/>
                </a:solidFill>
                <a:latin typeface="Roboto"/>
                <a:ea typeface="Roboto"/>
                <a:cs typeface="Roboto"/>
                <a:sym typeface="Roboto"/>
              </a:rPr>
              <a:t>Mesa Hybrid Vehicles Inc. developed a new prototype hybrid electric model, the Gulo 3000. The prototype experienced temporary vibrations when the motor was turned on and off that were so large they disrupted passengers. Mesa attributed these vibrations to the drive shaft which connects the DC motor to the front wheels of the car. Mesa requested that we determine if the vibrations were due to the shaft’s flexibility, characterize the system, develop a mathematical model, and provide the four most effective solutions to reduce the vibrations by least 30%.</a:t>
            </a:r>
            <a:endParaRPr b="0" i="0" sz="500" u="none" cap="none" strike="noStrike">
              <a:solidFill>
                <a:schemeClr val="dk1"/>
              </a:solidFill>
              <a:latin typeface="Roboto"/>
              <a:ea typeface="Roboto"/>
              <a:cs typeface="Roboto"/>
              <a:sym typeface="Roboto"/>
            </a:endParaRPr>
          </a:p>
        </p:txBody>
      </p:sp>
      <p:sp>
        <p:nvSpPr>
          <p:cNvPr id="60" name="Google Shape;60;p13"/>
          <p:cNvSpPr txBox="1"/>
          <p:nvPr/>
        </p:nvSpPr>
        <p:spPr>
          <a:xfrm>
            <a:off x="6103050" y="4627350"/>
            <a:ext cx="2846100" cy="497100"/>
          </a:xfrm>
          <a:prstGeom prst="rect">
            <a:avLst/>
          </a:prstGeom>
          <a:noFill/>
          <a:ln>
            <a:noFill/>
          </a:ln>
        </p:spPr>
        <p:txBody>
          <a:bodyPr anchorCtr="0" anchor="t" bIns="17550" lIns="17550" spcFirstLastPara="1" rIns="17550" wrap="square" tIns="17550">
            <a:spAutoFit/>
          </a:bodyPr>
          <a:lstStyle/>
          <a:p>
            <a:pPr indent="0" lvl="0" marL="0" marR="0" rtl="0" algn="l">
              <a:lnSpc>
                <a:spcPct val="100000"/>
              </a:lnSpc>
              <a:spcBef>
                <a:spcPts val="0"/>
              </a:spcBef>
              <a:spcAft>
                <a:spcPts val="0"/>
              </a:spcAft>
              <a:buNone/>
            </a:pPr>
            <a:r>
              <a:rPr lang="en" sz="500">
                <a:solidFill>
                  <a:schemeClr val="dk1"/>
                </a:solidFill>
                <a:latin typeface="Roboto"/>
                <a:ea typeface="Roboto"/>
                <a:cs typeface="Roboto"/>
                <a:sym typeface="Roboto"/>
              </a:rPr>
              <a:t>Dorf, Richard C., and Robert H. Bishop. Modern Control Systems. 13th ed., Pearson, 2017.</a:t>
            </a:r>
            <a:endParaRPr sz="5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5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rPr lang="en" sz="500">
                <a:solidFill>
                  <a:schemeClr val="dk1"/>
                </a:solidFill>
                <a:latin typeface="Roboto"/>
                <a:ea typeface="Roboto"/>
                <a:cs typeface="Roboto"/>
                <a:sym typeface="Roboto"/>
              </a:rPr>
              <a:t>Toyota Technical Review: Contrasts in Value and Manufacturing—The Second-Generation Mirai and New GR Yaris. Vol. 66, no. 236, Toyota Motor Corporation, 22 Mar. 2021.</a:t>
            </a:r>
            <a:endParaRPr sz="5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5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rPr lang="en" sz="500">
                <a:solidFill>
                  <a:schemeClr val="dk1"/>
                </a:solidFill>
                <a:latin typeface="Roboto"/>
                <a:ea typeface="Roboto"/>
                <a:cs typeface="Roboto"/>
                <a:sym typeface="Roboto"/>
              </a:rPr>
              <a:t>Meriam, J. L., &amp; Kraige, L. G. Engineering mechanics: Dynamics (6th ed.). Wiley. 2006.</a:t>
            </a:r>
            <a:endParaRPr sz="500">
              <a:solidFill>
                <a:schemeClr val="dk1"/>
              </a:solidFill>
              <a:latin typeface="Roboto"/>
              <a:ea typeface="Roboto"/>
              <a:cs typeface="Roboto"/>
              <a:sym typeface="Roboto"/>
            </a:endParaRPr>
          </a:p>
        </p:txBody>
      </p:sp>
      <p:sp>
        <p:nvSpPr>
          <p:cNvPr id="61" name="Google Shape;61;p13"/>
          <p:cNvSpPr txBox="1"/>
          <p:nvPr/>
        </p:nvSpPr>
        <p:spPr>
          <a:xfrm>
            <a:off x="227702" y="407816"/>
            <a:ext cx="7668900" cy="174000"/>
          </a:xfrm>
          <a:prstGeom prst="rect">
            <a:avLst/>
          </a:prstGeom>
          <a:noFill/>
          <a:ln>
            <a:noFill/>
          </a:ln>
        </p:spPr>
        <p:txBody>
          <a:bodyPr anchorCtr="0" anchor="t" bIns="17550" lIns="17550" spcFirstLastPara="1" rIns="17550" wrap="square" tIns="17550">
            <a:spAutoFit/>
          </a:bodyPr>
          <a:lstStyle/>
          <a:p>
            <a:pPr indent="0" lvl="0" marL="0" marR="0" rtl="0" algn="l">
              <a:lnSpc>
                <a:spcPct val="100000"/>
              </a:lnSpc>
              <a:spcBef>
                <a:spcPts val="0"/>
              </a:spcBef>
              <a:spcAft>
                <a:spcPts val="0"/>
              </a:spcAft>
              <a:buClr>
                <a:srgbClr val="000000"/>
              </a:buClr>
              <a:buSzPts val="900"/>
              <a:buFont typeface="Arial"/>
              <a:buNone/>
            </a:pPr>
            <a:r>
              <a:rPr lang="en" sz="900">
                <a:solidFill>
                  <a:schemeClr val="dk1"/>
                </a:solidFill>
                <a:latin typeface="Roboto Medium"/>
                <a:ea typeface="Roboto Medium"/>
                <a:cs typeface="Roboto Medium"/>
                <a:sym typeface="Roboto Medium"/>
              </a:rPr>
              <a:t>Evers Baskey, Sophia Dragich, Evan Link, Vrinda Thakur </a:t>
            </a:r>
            <a:endParaRPr b="0" i="0" sz="500" u="none" cap="none" strike="noStrike">
              <a:solidFill>
                <a:schemeClr val="dk1"/>
              </a:solidFill>
              <a:latin typeface="Roboto Medium"/>
              <a:ea typeface="Roboto Medium"/>
              <a:cs typeface="Roboto Medium"/>
              <a:sym typeface="Roboto Medium"/>
            </a:endParaRPr>
          </a:p>
        </p:txBody>
      </p:sp>
      <p:sp>
        <p:nvSpPr>
          <p:cNvPr id="62" name="Google Shape;62;p13"/>
          <p:cNvSpPr txBox="1"/>
          <p:nvPr/>
        </p:nvSpPr>
        <p:spPr>
          <a:xfrm>
            <a:off x="413596" y="1527855"/>
            <a:ext cx="2434500" cy="158700"/>
          </a:xfrm>
          <a:prstGeom prst="rect">
            <a:avLst/>
          </a:prstGeom>
          <a:noFill/>
          <a:ln>
            <a:noFill/>
          </a:ln>
        </p:spPr>
        <p:txBody>
          <a:bodyPr anchorCtr="0" anchor="t" bIns="17550" lIns="17550" spcFirstLastPara="1" rIns="17550" wrap="square" tIns="17550">
            <a:spAutoFit/>
          </a:bodyPr>
          <a:lstStyle/>
          <a:p>
            <a:pPr indent="0" lvl="0" marL="0" marR="0" rtl="0" algn="ctr">
              <a:lnSpc>
                <a:spcPct val="100000"/>
              </a:lnSpc>
              <a:spcBef>
                <a:spcPts val="0"/>
              </a:spcBef>
              <a:spcAft>
                <a:spcPts val="0"/>
              </a:spcAft>
              <a:buClr>
                <a:srgbClr val="000000"/>
              </a:buClr>
              <a:buSzPts val="900"/>
              <a:buFont typeface="Arial"/>
              <a:buNone/>
            </a:pPr>
            <a:r>
              <a:rPr lang="en" sz="800">
                <a:solidFill>
                  <a:schemeClr val="lt1"/>
                </a:solidFill>
                <a:latin typeface="Roboto Medium"/>
                <a:ea typeface="Roboto Medium"/>
                <a:cs typeface="Roboto Medium"/>
                <a:sym typeface="Roboto Medium"/>
              </a:rPr>
              <a:t>Methods</a:t>
            </a:r>
            <a:endParaRPr b="0" i="0" sz="800" u="none" cap="none" strike="noStrike">
              <a:solidFill>
                <a:schemeClr val="lt1"/>
              </a:solidFill>
              <a:latin typeface="Roboto Medium"/>
              <a:ea typeface="Roboto Medium"/>
              <a:cs typeface="Roboto Medium"/>
              <a:sym typeface="Roboto Medium"/>
            </a:endParaRPr>
          </a:p>
        </p:txBody>
      </p:sp>
      <p:sp>
        <p:nvSpPr>
          <p:cNvPr id="63" name="Google Shape;63;p13"/>
          <p:cNvSpPr/>
          <p:nvPr/>
        </p:nvSpPr>
        <p:spPr>
          <a:xfrm>
            <a:off x="6103050" y="4456131"/>
            <a:ext cx="2956500" cy="158700"/>
          </a:xfrm>
          <a:prstGeom prst="rect">
            <a:avLst/>
          </a:prstGeom>
          <a:solidFill>
            <a:srgbClr val="00274C"/>
          </a:solidFill>
          <a:ln cap="flat" cmpd="sng" w="2150">
            <a:solidFill>
              <a:schemeClr val="dk2"/>
            </a:solidFill>
            <a:prstDash val="solid"/>
            <a:round/>
            <a:headEnd len="sm" w="sm" type="none"/>
            <a:tailEnd len="sm" w="sm" type="none"/>
          </a:ln>
        </p:spPr>
        <p:txBody>
          <a:bodyPr anchorCtr="0" anchor="ctr" bIns="17550" lIns="17550" spcFirstLastPara="1" rIns="17550" wrap="square" tIns="175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64" name="Google Shape;64;p13"/>
          <p:cNvSpPr txBox="1"/>
          <p:nvPr/>
        </p:nvSpPr>
        <p:spPr>
          <a:xfrm>
            <a:off x="6257632" y="4456129"/>
            <a:ext cx="2651100" cy="158700"/>
          </a:xfrm>
          <a:prstGeom prst="rect">
            <a:avLst/>
          </a:prstGeom>
          <a:noFill/>
          <a:ln>
            <a:noFill/>
          </a:ln>
        </p:spPr>
        <p:txBody>
          <a:bodyPr anchorCtr="0" anchor="t" bIns="17550" lIns="17550" spcFirstLastPara="1" rIns="17550" wrap="square" tIns="17550">
            <a:spAutoFit/>
          </a:bodyPr>
          <a:lstStyle/>
          <a:p>
            <a:pPr indent="0" lvl="0" marL="0" marR="0" rtl="0" algn="ctr">
              <a:lnSpc>
                <a:spcPct val="100000"/>
              </a:lnSpc>
              <a:spcBef>
                <a:spcPts val="0"/>
              </a:spcBef>
              <a:spcAft>
                <a:spcPts val="0"/>
              </a:spcAft>
              <a:buClr>
                <a:srgbClr val="000000"/>
              </a:buClr>
              <a:buSzPts val="900"/>
              <a:buFont typeface="Arial"/>
              <a:buNone/>
            </a:pPr>
            <a:r>
              <a:rPr lang="en" sz="800">
                <a:solidFill>
                  <a:schemeClr val="lt1"/>
                </a:solidFill>
                <a:latin typeface="Roboto Medium"/>
                <a:ea typeface="Roboto Medium"/>
                <a:cs typeface="Roboto Medium"/>
                <a:sym typeface="Roboto Medium"/>
              </a:rPr>
              <a:t>References</a:t>
            </a:r>
            <a:endParaRPr b="0" i="0" sz="800" u="none" cap="none" strike="noStrike">
              <a:solidFill>
                <a:schemeClr val="lt1"/>
              </a:solidFill>
              <a:latin typeface="Roboto Medium"/>
              <a:ea typeface="Roboto Medium"/>
              <a:cs typeface="Roboto Medium"/>
              <a:sym typeface="Roboto Medium"/>
            </a:endParaRPr>
          </a:p>
        </p:txBody>
      </p:sp>
      <p:sp>
        <p:nvSpPr>
          <p:cNvPr id="65" name="Google Shape;65;p13"/>
          <p:cNvSpPr txBox="1"/>
          <p:nvPr/>
        </p:nvSpPr>
        <p:spPr>
          <a:xfrm>
            <a:off x="3083251" y="875623"/>
            <a:ext cx="2855400" cy="143100"/>
          </a:xfrm>
          <a:prstGeom prst="rect">
            <a:avLst/>
          </a:prstGeom>
          <a:noFill/>
          <a:ln>
            <a:noFill/>
          </a:ln>
        </p:spPr>
        <p:txBody>
          <a:bodyPr anchorCtr="0" anchor="t" bIns="17550" lIns="17550" spcFirstLastPara="1" rIns="17550" wrap="square" tIns="17550">
            <a:spAutoFit/>
          </a:bodyPr>
          <a:lstStyle/>
          <a:p>
            <a:pPr indent="0" lvl="0" marL="0" marR="0" rtl="0" algn="just">
              <a:lnSpc>
                <a:spcPct val="100000"/>
              </a:lnSpc>
              <a:spcBef>
                <a:spcPts val="0"/>
              </a:spcBef>
              <a:spcAft>
                <a:spcPts val="0"/>
              </a:spcAft>
              <a:buClr>
                <a:schemeClr val="dk1"/>
              </a:buClr>
              <a:buSzPts val="200"/>
              <a:buFont typeface="Arial"/>
              <a:buNone/>
            </a:pPr>
            <a:r>
              <a:rPr b="1" lang="en" sz="700">
                <a:solidFill>
                  <a:schemeClr val="dk1"/>
                </a:solidFill>
                <a:latin typeface="Roboto"/>
                <a:ea typeface="Roboto"/>
                <a:cs typeface="Roboto"/>
                <a:sym typeface="Roboto"/>
              </a:rPr>
              <a:t>Flexible shaft frequency response</a:t>
            </a:r>
            <a:endParaRPr b="1" sz="700">
              <a:solidFill>
                <a:schemeClr val="dk1"/>
              </a:solidFill>
              <a:latin typeface="Roboto"/>
              <a:ea typeface="Roboto"/>
              <a:cs typeface="Roboto"/>
              <a:sym typeface="Roboto"/>
            </a:endParaRPr>
          </a:p>
        </p:txBody>
      </p:sp>
      <p:sp>
        <p:nvSpPr>
          <p:cNvPr id="66" name="Google Shape;66;p13"/>
          <p:cNvSpPr txBox="1"/>
          <p:nvPr/>
        </p:nvSpPr>
        <p:spPr>
          <a:xfrm>
            <a:off x="247894" y="4269047"/>
            <a:ext cx="2715000" cy="820500"/>
          </a:xfrm>
          <a:prstGeom prst="rect">
            <a:avLst/>
          </a:prstGeom>
          <a:noFill/>
          <a:ln>
            <a:noFill/>
          </a:ln>
        </p:spPr>
        <p:txBody>
          <a:bodyPr anchorCtr="0" anchor="t" bIns="17550" lIns="17550" spcFirstLastPara="1" rIns="17550" wrap="square" tIns="17550">
            <a:spAutoFit/>
          </a:bodyPr>
          <a:lstStyle/>
          <a:p>
            <a:pPr indent="0" lvl="0" marL="0" rtl="0" algn="just">
              <a:lnSpc>
                <a:spcPct val="115000"/>
              </a:lnSpc>
              <a:spcBef>
                <a:spcPts val="0"/>
              </a:spcBef>
              <a:spcAft>
                <a:spcPts val="0"/>
              </a:spcAft>
              <a:buNone/>
            </a:pPr>
            <a:r>
              <a:rPr lang="en" sz="500">
                <a:solidFill>
                  <a:schemeClr val="dk1"/>
                </a:solidFill>
                <a:latin typeface="Roboto"/>
                <a:ea typeface="Roboto"/>
                <a:cs typeface="Roboto"/>
                <a:sym typeface="Roboto"/>
              </a:rPr>
              <a:t>The system was characterized using DC motor tests, free-response </a:t>
            </a:r>
            <a:r>
              <a:rPr lang="en" sz="500">
                <a:solidFill>
                  <a:schemeClr val="dk1"/>
                </a:solidFill>
                <a:latin typeface="Roboto"/>
                <a:ea typeface="Roboto"/>
                <a:cs typeface="Roboto"/>
                <a:sym typeface="Roboto"/>
              </a:rPr>
              <a:t>measurements</a:t>
            </a:r>
            <a:r>
              <a:rPr lang="en" sz="500">
                <a:solidFill>
                  <a:schemeClr val="dk1"/>
                </a:solidFill>
                <a:latin typeface="Roboto"/>
                <a:ea typeface="Roboto"/>
                <a:cs typeface="Roboto"/>
                <a:sym typeface="Roboto"/>
              </a:rPr>
              <a:t>, and frequency-response testing. R</a:t>
            </a:r>
            <a:r>
              <a:rPr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and K</a:t>
            </a:r>
            <a:r>
              <a:rPr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were determined experimentally, while flywheel inertia and shaft stiffness were calculated from provided dimensions and material properties. Free-response tests with each side locked were used to estimate B</a:t>
            </a:r>
            <a:r>
              <a:rPr baseline="-25000" lang="en" sz="500">
                <a:solidFill>
                  <a:schemeClr val="dk1"/>
                </a:solidFill>
                <a:latin typeface="Roboto"/>
                <a:ea typeface="Roboto"/>
                <a:cs typeface="Roboto"/>
                <a:sym typeface="Roboto"/>
              </a:rPr>
              <a:t>tr</a:t>
            </a:r>
            <a:r>
              <a:rPr lang="en" sz="500">
                <a:solidFill>
                  <a:schemeClr val="dk1"/>
                </a:solidFill>
                <a:latin typeface="Roboto"/>
                <a:ea typeface="Roboto"/>
                <a:cs typeface="Roboto"/>
                <a:sym typeface="Roboto"/>
              </a:rPr>
              <a:t> and B</a:t>
            </a:r>
            <a:r>
              <a:rPr baseline="-25000" lang="en" sz="500">
                <a:solidFill>
                  <a:schemeClr val="dk1"/>
                </a:solidFill>
                <a:latin typeface="Roboto"/>
                <a:ea typeface="Roboto"/>
                <a:cs typeface="Roboto"/>
                <a:sym typeface="Roboto"/>
              </a:rPr>
              <a:t>tl</a:t>
            </a:r>
            <a:r>
              <a:rPr lang="en" sz="500">
                <a:solidFill>
                  <a:schemeClr val="dk1"/>
                </a:solidFill>
                <a:latin typeface="Roboto"/>
                <a:ea typeface="Roboto"/>
                <a:cs typeface="Roboto"/>
                <a:sym typeface="Roboto"/>
              </a:rPr>
              <a:t>. Frequency-response measurements from 1 to 20 Hz with finer </a:t>
            </a:r>
            <a:r>
              <a:rPr lang="en" sz="500">
                <a:solidFill>
                  <a:schemeClr val="dk1"/>
                </a:solidFill>
                <a:latin typeface="Roboto"/>
                <a:ea typeface="Roboto"/>
                <a:cs typeface="Roboto"/>
                <a:sym typeface="Roboto"/>
              </a:rPr>
              <a:t>resolution</a:t>
            </a:r>
            <a:r>
              <a:rPr lang="en" sz="500">
                <a:solidFill>
                  <a:schemeClr val="dk1"/>
                </a:solidFill>
                <a:latin typeface="Roboto"/>
                <a:ea typeface="Roboto"/>
                <a:cs typeface="Roboto"/>
                <a:sym typeface="Roboto"/>
              </a:rPr>
              <a:t> near resonance were then compared with a lumped-parameter model of the system. After </a:t>
            </a:r>
            <a:r>
              <a:rPr lang="en" sz="500">
                <a:solidFill>
                  <a:schemeClr val="dk1"/>
                </a:solidFill>
                <a:latin typeface="Roboto"/>
                <a:ea typeface="Roboto"/>
                <a:cs typeface="Roboto"/>
                <a:sym typeface="Roboto"/>
              </a:rPr>
              <a:t>refining</a:t>
            </a:r>
            <a:r>
              <a:rPr lang="en" sz="500">
                <a:solidFill>
                  <a:schemeClr val="dk1"/>
                </a:solidFill>
                <a:latin typeface="Roboto"/>
                <a:ea typeface="Roboto"/>
                <a:cs typeface="Roboto"/>
                <a:sym typeface="Roboto"/>
              </a:rPr>
              <a:t> the effective stiffness and damping distribution, sensitivity analysis was used to identify promising design parameters, </a:t>
            </a:r>
            <a:r>
              <a:rPr lang="en" sz="500">
                <a:solidFill>
                  <a:schemeClr val="dk1"/>
                </a:solidFill>
                <a:latin typeface="Roboto"/>
                <a:ea typeface="Roboto"/>
                <a:cs typeface="Roboto"/>
                <a:sym typeface="Roboto"/>
              </a:rPr>
              <a:t>which</a:t>
            </a:r>
            <a:r>
              <a:rPr lang="en" sz="500">
                <a:solidFill>
                  <a:schemeClr val="dk1"/>
                </a:solidFill>
                <a:latin typeface="Roboto"/>
                <a:ea typeface="Roboto"/>
                <a:cs typeface="Roboto"/>
                <a:sym typeface="Roboto"/>
              </a:rPr>
              <a:t> were varied to </a:t>
            </a:r>
            <a:r>
              <a:rPr lang="en" sz="500">
                <a:solidFill>
                  <a:schemeClr val="dk1"/>
                </a:solidFill>
                <a:latin typeface="Roboto"/>
                <a:ea typeface="Roboto"/>
                <a:cs typeface="Roboto"/>
                <a:sym typeface="Roboto"/>
              </a:rPr>
              <a:t>evaluate</a:t>
            </a:r>
            <a:r>
              <a:rPr lang="en" sz="500">
                <a:solidFill>
                  <a:schemeClr val="dk1"/>
                </a:solidFill>
                <a:latin typeface="Roboto"/>
                <a:ea typeface="Roboto"/>
                <a:cs typeface="Roboto"/>
                <a:sym typeface="Roboto"/>
              </a:rPr>
              <a:t> their ability to reduce the resonant amplitude by </a:t>
            </a:r>
            <a:r>
              <a:rPr lang="en" sz="500">
                <a:solidFill>
                  <a:schemeClr val="dk1"/>
                </a:solidFill>
                <a:latin typeface="Roboto"/>
                <a:ea typeface="Roboto"/>
                <a:cs typeface="Roboto"/>
                <a:sym typeface="Roboto"/>
              </a:rPr>
              <a:t>at least</a:t>
            </a:r>
            <a:r>
              <a:rPr lang="en" sz="500">
                <a:solidFill>
                  <a:schemeClr val="dk1"/>
                </a:solidFill>
                <a:latin typeface="Roboto"/>
                <a:ea typeface="Roboto"/>
                <a:cs typeface="Roboto"/>
                <a:sym typeface="Roboto"/>
              </a:rPr>
              <a:t> 30%.</a:t>
            </a:r>
            <a:endParaRPr sz="500">
              <a:solidFill>
                <a:schemeClr val="dk1"/>
              </a:solidFill>
              <a:latin typeface="Roboto"/>
              <a:ea typeface="Roboto"/>
              <a:cs typeface="Roboto"/>
              <a:sym typeface="Roboto"/>
            </a:endParaRPr>
          </a:p>
        </p:txBody>
      </p:sp>
      <p:grpSp>
        <p:nvGrpSpPr>
          <p:cNvPr id="67" name="Google Shape;67;p13"/>
          <p:cNvGrpSpPr/>
          <p:nvPr/>
        </p:nvGrpSpPr>
        <p:grpSpPr>
          <a:xfrm>
            <a:off x="229465" y="1873380"/>
            <a:ext cx="2745645" cy="736607"/>
            <a:chOff x="1784102" y="365904"/>
            <a:chExt cx="5640192" cy="1528230"/>
          </a:xfrm>
        </p:grpSpPr>
        <p:pic>
          <p:nvPicPr>
            <p:cNvPr id="68" name="Google Shape;68;p13" title="IMG_2814.jpg"/>
            <p:cNvPicPr preferRelativeResize="0"/>
            <p:nvPr/>
          </p:nvPicPr>
          <p:blipFill rotWithShape="1">
            <a:blip r:embed="rId3">
              <a:alphaModFix/>
            </a:blip>
            <a:srcRect b="14574" l="0" r="6165" t="52082"/>
            <a:stretch/>
          </p:blipFill>
          <p:spPr>
            <a:xfrm>
              <a:off x="1784102" y="365904"/>
              <a:ext cx="5528709" cy="1484949"/>
            </a:xfrm>
            <a:prstGeom prst="rect">
              <a:avLst/>
            </a:prstGeom>
            <a:noFill/>
            <a:ln>
              <a:noFill/>
            </a:ln>
          </p:spPr>
        </p:pic>
        <p:sp>
          <p:nvSpPr>
            <p:cNvPr id="69" name="Google Shape;69;p13"/>
            <p:cNvSpPr txBox="1"/>
            <p:nvPr/>
          </p:nvSpPr>
          <p:spPr>
            <a:xfrm>
              <a:off x="2226275" y="717900"/>
              <a:ext cx="732000" cy="448800"/>
            </a:xfrm>
            <a:prstGeom prst="rect">
              <a:avLst/>
            </a:prstGeom>
            <a:noFill/>
            <a:ln>
              <a:noFill/>
            </a:ln>
          </p:spPr>
          <p:txBody>
            <a:bodyPr anchorCtr="0" anchor="t" bIns="44075" lIns="44075" spcFirstLastPara="1" rIns="44075" wrap="square" tIns="44075">
              <a:noAutofit/>
            </a:bodyPr>
            <a:lstStyle/>
            <a:p>
              <a:pPr indent="0" lvl="0" marL="0" rtl="0" algn="l">
                <a:spcBef>
                  <a:spcPts val="0"/>
                </a:spcBef>
                <a:spcAft>
                  <a:spcPts val="0"/>
                </a:spcAft>
                <a:buNone/>
              </a:pPr>
              <a:r>
                <a:rPr lang="en" sz="675">
                  <a:highlight>
                    <a:srgbClr val="FFFFFF"/>
                  </a:highlight>
                </a:rPr>
                <a:t>Motor</a:t>
              </a:r>
              <a:endParaRPr sz="675">
                <a:highlight>
                  <a:srgbClr val="FFFFFF"/>
                </a:highlight>
              </a:endParaRPr>
            </a:p>
          </p:txBody>
        </p:sp>
        <p:sp>
          <p:nvSpPr>
            <p:cNvPr id="70" name="Google Shape;70;p13"/>
            <p:cNvSpPr txBox="1"/>
            <p:nvPr/>
          </p:nvSpPr>
          <p:spPr>
            <a:xfrm>
              <a:off x="2958264" y="1409092"/>
              <a:ext cx="1767900" cy="448800"/>
            </a:xfrm>
            <a:prstGeom prst="rect">
              <a:avLst/>
            </a:prstGeom>
            <a:noFill/>
            <a:ln>
              <a:noFill/>
            </a:ln>
          </p:spPr>
          <p:txBody>
            <a:bodyPr anchorCtr="0" anchor="t" bIns="44075" lIns="44075" spcFirstLastPara="1" rIns="44075" wrap="square" tIns="44075">
              <a:noAutofit/>
            </a:bodyPr>
            <a:lstStyle/>
            <a:p>
              <a:pPr indent="0" lvl="0" marL="0" rtl="0" algn="l">
                <a:spcBef>
                  <a:spcPts val="0"/>
                </a:spcBef>
                <a:spcAft>
                  <a:spcPts val="0"/>
                </a:spcAft>
                <a:buNone/>
              </a:pPr>
              <a:r>
                <a:rPr lang="en" sz="675">
                  <a:highlight>
                    <a:srgbClr val="FFFFFF"/>
                  </a:highlight>
                </a:rPr>
                <a:t>Proximal </a:t>
              </a:r>
              <a:r>
                <a:rPr lang="en" sz="675">
                  <a:highlight>
                    <a:srgbClr val="FFFFFF"/>
                  </a:highlight>
                </a:rPr>
                <a:t>Flywheel</a:t>
              </a:r>
              <a:endParaRPr sz="675">
                <a:highlight>
                  <a:srgbClr val="FFFFFF"/>
                </a:highlight>
              </a:endParaRPr>
            </a:p>
          </p:txBody>
        </p:sp>
        <p:sp>
          <p:nvSpPr>
            <p:cNvPr id="71" name="Google Shape;71;p13"/>
            <p:cNvSpPr txBox="1"/>
            <p:nvPr/>
          </p:nvSpPr>
          <p:spPr>
            <a:xfrm>
              <a:off x="4696075" y="915953"/>
              <a:ext cx="930900" cy="448800"/>
            </a:xfrm>
            <a:prstGeom prst="rect">
              <a:avLst/>
            </a:prstGeom>
            <a:noFill/>
            <a:ln>
              <a:noFill/>
            </a:ln>
          </p:spPr>
          <p:txBody>
            <a:bodyPr anchorCtr="0" anchor="t" bIns="44075" lIns="44075" spcFirstLastPara="1" rIns="44075" wrap="square" tIns="44075">
              <a:noAutofit/>
            </a:bodyPr>
            <a:lstStyle/>
            <a:p>
              <a:pPr indent="0" lvl="0" marL="0" rtl="0" algn="l">
                <a:spcBef>
                  <a:spcPts val="0"/>
                </a:spcBef>
                <a:spcAft>
                  <a:spcPts val="0"/>
                </a:spcAft>
                <a:buNone/>
              </a:pPr>
              <a:r>
                <a:rPr lang="en" sz="675">
                  <a:highlight>
                    <a:srgbClr val="FFFFFF"/>
                  </a:highlight>
                </a:rPr>
                <a:t>Shaft</a:t>
              </a:r>
              <a:endParaRPr sz="675">
                <a:highlight>
                  <a:srgbClr val="FFFFFF"/>
                </a:highlight>
              </a:endParaRPr>
            </a:p>
          </p:txBody>
        </p:sp>
        <p:sp>
          <p:nvSpPr>
            <p:cNvPr id="72" name="Google Shape;72;p13"/>
            <p:cNvSpPr txBox="1"/>
            <p:nvPr/>
          </p:nvSpPr>
          <p:spPr>
            <a:xfrm>
              <a:off x="5960294" y="1445333"/>
              <a:ext cx="1464000" cy="448800"/>
            </a:xfrm>
            <a:prstGeom prst="rect">
              <a:avLst/>
            </a:prstGeom>
            <a:noFill/>
            <a:ln>
              <a:noFill/>
            </a:ln>
          </p:spPr>
          <p:txBody>
            <a:bodyPr anchorCtr="0" anchor="t" bIns="44075" lIns="44075" spcFirstLastPara="1" rIns="44075" wrap="square" tIns="44075">
              <a:noAutofit/>
            </a:bodyPr>
            <a:lstStyle/>
            <a:p>
              <a:pPr indent="0" lvl="0" marL="0" rtl="0" algn="l">
                <a:spcBef>
                  <a:spcPts val="0"/>
                </a:spcBef>
                <a:spcAft>
                  <a:spcPts val="0"/>
                </a:spcAft>
                <a:buNone/>
              </a:pPr>
              <a:r>
                <a:rPr lang="en" sz="675">
                  <a:highlight>
                    <a:srgbClr val="FFFFFF"/>
                  </a:highlight>
                </a:rPr>
                <a:t>Distal Flywheel</a:t>
              </a:r>
              <a:endParaRPr sz="675">
                <a:highlight>
                  <a:srgbClr val="FFFFFF"/>
                </a:highlight>
              </a:endParaRPr>
            </a:p>
          </p:txBody>
        </p:sp>
      </p:grpSp>
      <p:grpSp>
        <p:nvGrpSpPr>
          <p:cNvPr id="73" name="Google Shape;73;p13"/>
          <p:cNvGrpSpPr/>
          <p:nvPr/>
        </p:nvGrpSpPr>
        <p:grpSpPr>
          <a:xfrm>
            <a:off x="419962" y="2587108"/>
            <a:ext cx="2322848" cy="1155007"/>
            <a:chOff x="189775" y="1231175"/>
            <a:chExt cx="7086175" cy="3186225"/>
          </a:xfrm>
        </p:grpSpPr>
        <p:sp>
          <p:nvSpPr>
            <p:cNvPr id="74" name="Google Shape;74;p13"/>
            <p:cNvSpPr/>
            <p:nvPr/>
          </p:nvSpPr>
          <p:spPr>
            <a:xfrm>
              <a:off x="189775" y="2563919"/>
              <a:ext cx="973500" cy="973500"/>
            </a:xfrm>
            <a:prstGeom prst="ellipse">
              <a:avLst/>
            </a:prstGeom>
            <a:solidFill>
              <a:srgbClr val="CFE2F3"/>
            </a:solid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rPr lang="en" sz="337"/>
                <a:t>+</a:t>
              </a:r>
              <a:endParaRPr sz="337"/>
            </a:p>
            <a:p>
              <a:pPr indent="0" lvl="0" marL="0" rtl="0" algn="ctr">
                <a:spcBef>
                  <a:spcPts val="0"/>
                </a:spcBef>
                <a:spcAft>
                  <a:spcPts val="0"/>
                </a:spcAft>
                <a:buNone/>
              </a:pPr>
              <a:r>
                <a:t/>
              </a:r>
              <a:endParaRPr sz="337"/>
            </a:p>
            <a:p>
              <a:pPr indent="0" lvl="0" marL="0" rtl="0" algn="ctr">
                <a:spcBef>
                  <a:spcPts val="0"/>
                </a:spcBef>
                <a:spcAft>
                  <a:spcPts val="0"/>
                </a:spcAft>
                <a:buNone/>
              </a:pPr>
              <a:r>
                <a:t/>
              </a:r>
              <a:endParaRPr sz="337"/>
            </a:p>
            <a:p>
              <a:pPr indent="0" lvl="0" marL="0" rtl="0" algn="ctr">
                <a:spcBef>
                  <a:spcPts val="0"/>
                </a:spcBef>
                <a:spcAft>
                  <a:spcPts val="0"/>
                </a:spcAft>
                <a:buNone/>
              </a:pPr>
              <a:r>
                <a:rPr lang="en" sz="337"/>
                <a:t>Vin</a:t>
              </a:r>
              <a:endParaRPr sz="337"/>
            </a:p>
            <a:p>
              <a:pPr indent="0" lvl="0" marL="0" rtl="0" algn="ctr">
                <a:spcBef>
                  <a:spcPts val="0"/>
                </a:spcBef>
                <a:spcAft>
                  <a:spcPts val="0"/>
                </a:spcAft>
                <a:buNone/>
              </a:pPr>
              <a:r>
                <a:t/>
              </a:r>
              <a:endParaRPr sz="337"/>
            </a:p>
            <a:p>
              <a:pPr indent="0" lvl="0" marL="0" rtl="0" algn="ctr">
                <a:spcBef>
                  <a:spcPts val="0"/>
                </a:spcBef>
                <a:spcAft>
                  <a:spcPts val="0"/>
                </a:spcAft>
                <a:buNone/>
              </a:pPr>
              <a:r>
                <a:rPr lang="en" sz="337"/>
                <a:t>-</a:t>
              </a:r>
              <a:endParaRPr sz="337"/>
            </a:p>
          </p:txBody>
        </p:sp>
        <p:cxnSp>
          <p:nvCxnSpPr>
            <p:cNvPr id="75" name="Google Shape;75;p13"/>
            <p:cNvCxnSpPr>
              <a:stCxn id="74" idx="0"/>
            </p:cNvCxnSpPr>
            <p:nvPr/>
          </p:nvCxnSpPr>
          <p:spPr>
            <a:xfrm flipH="1" rot="10800000">
              <a:off x="676525" y="1663019"/>
              <a:ext cx="5400" cy="900900"/>
            </a:xfrm>
            <a:prstGeom prst="straightConnector1">
              <a:avLst/>
            </a:prstGeom>
            <a:noFill/>
            <a:ln cap="flat" cmpd="sng" w="2300">
              <a:solidFill>
                <a:srgbClr val="000000"/>
              </a:solidFill>
              <a:prstDash val="solid"/>
              <a:round/>
              <a:headEnd len="med" w="med" type="none"/>
              <a:tailEnd len="med" w="med" type="none"/>
            </a:ln>
          </p:spPr>
        </p:cxnSp>
        <p:cxnSp>
          <p:nvCxnSpPr>
            <p:cNvPr id="76" name="Google Shape;76;p13"/>
            <p:cNvCxnSpPr/>
            <p:nvPr/>
          </p:nvCxnSpPr>
          <p:spPr>
            <a:xfrm>
              <a:off x="2475254" y="1644754"/>
              <a:ext cx="0" cy="785400"/>
            </a:xfrm>
            <a:prstGeom prst="straightConnector1">
              <a:avLst/>
            </a:prstGeom>
            <a:noFill/>
            <a:ln cap="flat" cmpd="sng" w="2300">
              <a:solidFill>
                <a:srgbClr val="000000"/>
              </a:solidFill>
              <a:prstDash val="solid"/>
              <a:round/>
              <a:headEnd len="med" w="med" type="none"/>
              <a:tailEnd len="med" w="med" type="none"/>
            </a:ln>
          </p:spPr>
        </p:cxnSp>
        <p:cxnSp>
          <p:nvCxnSpPr>
            <p:cNvPr id="77" name="Google Shape;77;p13"/>
            <p:cNvCxnSpPr>
              <a:stCxn id="74" idx="4"/>
            </p:cNvCxnSpPr>
            <p:nvPr/>
          </p:nvCxnSpPr>
          <p:spPr>
            <a:xfrm>
              <a:off x="676525" y="3537419"/>
              <a:ext cx="0" cy="871800"/>
            </a:xfrm>
            <a:prstGeom prst="straightConnector1">
              <a:avLst/>
            </a:prstGeom>
            <a:noFill/>
            <a:ln cap="flat" cmpd="sng" w="2300">
              <a:solidFill>
                <a:srgbClr val="000000"/>
              </a:solidFill>
              <a:prstDash val="solid"/>
              <a:round/>
              <a:headEnd len="med" w="med" type="none"/>
              <a:tailEnd len="med" w="med" type="none"/>
            </a:ln>
          </p:spPr>
        </p:cxnSp>
        <p:cxnSp>
          <p:nvCxnSpPr>
            <p:cNvPr id="78" name="Google Shape;78;p13"/>
            <p:cNvCxnSpPr/>
            <p:nvPr/>
          </p:nvCxnSpPr>
          <p:spPr>
            <a:xfrm>
              <a:off x="692370" y="4409547"/>
              <a:ext cx="1822200" cy="0"/>
            </a:xfrm>
            <a:prstGeom prst="straightConnector1">
              <a:avLst/>
            </a:prstGeom>
            <a:noFill/>
            <a:ln cap="flat" cmpd="sng" w="2300">
              <a:solidFill>
                <a:srgbClr val="000000"/>
              </a:solidFill>
              <a:prstDash val="solid"/>
              <a:round/>
              <a:headEnd len="med" w="med" type="none"/>
              <a:tailEnd len="med" w="med" type="none"/>
            </a:ln>
          </p:spPr>
        </p:cxnSp>
        <p:cxnSp>
          <p:nvCxnSpPr>
            <p:cNvPr id="79" name="Google Shape;79;p13"/>
            <p:cNvCxnSpPr/>
            <p:nvPr/>
          </p:nvCxnSpPr>
          <p:spPr>
            <a:xfrm rot="10800000">
              <a:off x="2514520" y="3718400"/>
              <a:ext cx="0" cy="699000"/>
            </a:xfrm>
            <a:prstGeom prst="straightConnector1">
              <a:avLst/>
            </a:prstGeom>
            <a:noFill/>
            <a:ln cap="flat" cmpd="sng" w="2300">
              <a:solidFill>
                <a:srgbClr val="000000"/>
              </a:solidFill>
              <a:prstDash val="solid"/>
              <a:round/>
              <a:headEnd len="med" w="med" type="none"/>
              <a:tailEnd len="med" w="med" type="none"/>
            </a:ln>
          </p:spPr>
        </p:cxnSp>
        <p:sp>
          <p:nvSpPr>
            <p:cNvPr id="80" name="Google Shape;80;p13"/>
            <p:cNvSpPr/>
            <p:nvPr/>
          </p:nvSpPr>
          <p:spPr>
            <a:xfrm>
              <a:off x="1810563" y="2422462"/>
              <a:ext cx="1212900" cy="1296000"/>
            </a:xfrm>
            <a:prstGeom prst="rect">
              <a:avLst/>
            </a:prstGeom>
            <a:no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t/>
              </a:r>
              <a:endParaRPr sz="337"/>
            </a:p>
          </p:txBody>
        </p:sp>
        <p:sp>
          <p:nvSpPr>
            <p:cNvPr id="81" name="Google Shape;81;p13"/>
            <p:cNvSpPr/>
            <p:nvPr/>
          </p:nvSpPr>
          <p:spPr>
            <a:xfrm>
              <a:off x="1930104" y="2552139"/>
              <a:ext cx="973500" cy="973500"/>
            </a:xfrm>
            <a:prstGeom prst="ellipse">
              <a:avLst/>
            </a:prstGeom>
            <a:solidFill>
              <a:srgbClr val="F4CCCC"/>
            </a:solid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rPr lang="en" sz="337"/>
                <a:t>Km</a:t>
              </a:r>
              <a:endParaRPr sz="337"/>
            </a:p>
          </p:txBody>
        </p:sp>
        <p:sp>
          <p:nvSpPr>
            <p:cNvPr id="82" name="Google Shape;82;p13"/>
            <p:cNvSpPr txBox="1"/>
            <p:nvPr/>
          </p:nvSpPr>
          <p:spPr>
            <a:xfrm>
              <a:off x="1289282" y="2728742"/>
              <a:ext cx="782100" cy="785400"/>
            </a:xfrm>
            <a:prstGeom prst="rect">
              <a:avLst/>
            </a:prstGeom>
            <a:noFill/>
            <a:ln>
              <a:noFill/>
            </a:ln>
          </p:spPr>
          <p:txBody>
            <a:bodyPr anchorCtr="0" anchor="t" bIns="22050" lIns="22050" spcFirstLastPara="1" rIns="22050" wrap="square" tIns="22050">
              <a:noAutofit/>
            </a:bodyPr>
            <a:lstStyle/>
            <a:p>
              <a:pPr indent="0" lvl="0" marL="0" rtl="0" algn="l">
                <a:spcBef>
                  <a:spcPts val="0"/>
                </a:spcBef>
                <a:spcAft>
                  <a:spcPts val="0"/>
                </a:spcAft>
                <a:buNone/>
              </a:pPr>
              <a:r>
                <a:rPr lang="en" sz="337"/>
                <a:t>+</a:t>
              </a:r>
              <a:endParaRPr sz="337"/>
            </a:p>
            <a:p>
              <a:pPr indent="0" lvl="0" marL="0" rtl="0" algn="l">
                <a:spcBef>
                  <a:spcPts val="0"/>
                </a:spcBef>
                <a:spcAft>
                  <a:spcPts val="0"/>
                </a:spcAft>
                <a:buNone/>
              </a:pPr>
              <a:r>
                <a:t/>
              </a:r>
              <a:endParaRPr sz="337"/>
            </a:p>
            <a:p>
              <a:pPr indent="0" lvl="0" marL="0" rtl="0" algn="l">
                <a:spcBef>
                  <a:spcPts val="0"/>
                </a:spcBef>
                <a:spcAft>
                  <a:spcPts val="0"/>
                </a:spcAft>
                <a:buNone/>
              </a:pPr>
              <a:r>
                <a:rPr lang="en" sz="337"/>
                <a:t>Vemf</a:t>
              </a:r>
              <a:endParaRPr sz="337"/>
            </a:p>
            <a:p>
              <a:pPr indent="0" lvl="0" marL="0" rtl="0" algn="l">
                <a:spcBef>
                  <a:spcPts val="0"/>
                </a:spcBef>
                <a:spcAft>
                  <a:spcPts val="0"/>
                </a:spcAft>
                <a:buNone/>
              </a:pPr>
              <a:r>
                <a:t/>
              </a:r>
              <a:endParaRPr sz="337"/>
            </a:p>
            <a:p>
              <a:pPr indent="0" lvl="0" marL="0" rtl="0" algn="l">
                <a:spcBef>
                  <a:spcPts val="0"/>
                </a:spcBef>
                <a:spcAft>
                  <a:spcPts val="0"/>
                </a:spcAft>
                <a:buNone/>
              </a:pPr>
              <a:r>
                <a:rPr lang="en" sz="337"/>
                <a:t>-</a:t>
              </a:r>
              <a:endParaRPr sz="337"/>
            </a:p>
          </p:txBody>
        </p:sp>
        <p:sp>
          <p:nvSpPr>
            <p:cNvPr id="83" name="Google Shape;83;p13"/>
            <p:cNvSpPr/>
            <p:nvPr/>
          </p:nvSpPr>
          <p:spPr>
            <a:xfrm rot="5400000">
              <a:off x="5049650" y="1008986"/>
              <a:ext cx="199800" cy="4252800"/>
            </a:xfrm>
            <a:prstGeom prst="rect">
              <a:avLst/>
            </a:prstGeom>
            <a:solidFill>
              <a:srgbClr val="CCCCCC"/>
            </a:solid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t/>
              </a:r>
              <a:endParaRPr sz="337"/>
            </a:p>
          </p:txBody>
        </p:sp>
        <p:sp>
          <p:nvSpPr>
            <p:cNvPr id="84" name="Google Shape;84;p13"/>
            <p:cNvSpPr/>
            <p:nvPr/>
          </p:nvSpPr>
          <p:spPr>
            <a:xfrm>
              <a:off x="4444703" y="2380797"/>
              <a:ext cx="596700" cy="1509000"/>
            </a:xfrm>
            <a:prstGeom prst="ellipse">
              <a:avLst/>
            </a:prstGeom>
            <a:solidFill>
              <a:srgbClr val="666666"/>
            </a:solid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t/>
              </a:r>
              <a:endParaRPr sz="337"/>
            </a:p>
          </p:txBody>
        </p:sp>
        <p:sp>
          <p:nvSpPr>
            <p:cNvPr id="85" name="Google Shape;85;p13"/>
            <p:cNvSpPr/>
            <p:nvPr/>
          </p:nvSpPr>
          <p:spPr>
            <a:xfrm>
              <a:off x="6085588" y="2380797"/>
              <a:ext cx="596700" cy="1509000"/>
            </a:xfrm>
            <a:prstGeom prst="ellipse">
              <a:avLst/>
            </a:prstGeom>
            <a:solidFill>
              <a:srgbClr val="666666"/>
            </a:solid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t/>
              </a:r>
              <a:endParaRPr sz="337"/>
            </a:p>
          </p:txBody>
        </p:sp>
        <p:sp>
          <p:nvSpPr>
            <p:cNvPr id="86" name="Google Shape;86;p13"/>
            <p:cNvSpPr/>
            <p:nvPr/>
          </p:nvSpPr>
          <p:spPr>
            <a:xfrm>
              <a:off x="3670432" y="2586686"/>
              <a:ext cx="360000" cy="1097100"/>
            </a:xfrm>
            <a:prstGeom prst="ellipse">
              <a:avLst/>
            </a:prstGeom>
            <a:solidFill>
              <a:srgbClr val="F4CCCC"/>
            </a:solid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t/>
              </a:r>
              <a:endParaRPr sz="337"/>
            </a:p>
          </p:txBody>
        </p:sp>
        <p:sp>
          <p:nvSpPr>
            <p:cNvPr id="87" name="Google Shape;87;p13"/>
            <p:cNvSpPr/>
            <p:nvPr/>
          </p:nvSpPr>
          <p:spPr>
            <a:xfrm>
              <a:off x="5265135" y="2862558"/>
              <a:ext cx="596700" cy="517800"/>
            </a:xfrm>
            <a:prstGeom prst="rect">
              <a:avLst/>
            </a:prstGeom>
            <a:no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rPr lang="en" sz="337"/>
                <a:t>Bs, K</a:t>
              </a:r>
              <a:endParaRPr sz="337"/>
            </a:p>
          </p:txBody>
        </p:sp>
        <p:sp>
          <p:nvSpPr>
            <p:cNvPr id="88" name="Google Shape;88;p13"/>
            <p:cNvSpPr/>
            <p:nvPr/>
          </p:nvSpPr>
          <p:spPr>
            <a:xfrm>
              <a:off x="3168174" y="2862558"/>
              <a:ext cx="360000" cy="517800"/>
            </a:xfrm>
            <a:prstGeom prst="rect">
              <a:avLst/>
            </a:prstGeom>
            <a:no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rPr lang="en" sz="337"/>
                <a:t>Bm</a:t>
              </a:r>
              <a:endParaRPr sz="337"/>
            </a:p>
          </p:txBody>
        </p:sp>
        <p:sp>
          <p:nvSpPr>
            <p:cNvPr id="89" name="Google Shape;89;p13"/>
            <p:cNvSpPr txBox="1"/>
            <p:nvPr/>
          </p:nvSpPr>
          <p:spPr>
            <a:xfrm>
              <a:off x="4491823" y="2018461"/>
              <a:ext cx="596700" cy="362100"/>
            </a:xfrm>
            <a:prstGeom prst="rect">
              <a:avLst/>
            </a:prstGeom>
            <a:noFill/>
            <a:ln>
              <a:noFill/>
            </a:ln>
          </p:spPr>
          <p:txBody>
            <a:bodyPr anchorCtr="0" anchor="t" bIns="22050" lIns="22050" spcFirstLastPara="1" rIns="22050" wrap="square" tIns="22050">
              <a:noAutofit/>
            </a:bodyPr>
            <a:lstStyle/>
            <a:p>
              <a:pPr indent="0" lvl="0" marL="0" rtl="0" algn="l">
                <a:spcBef>
                  <a:spcPts val="0"/>
                </a:spcBef>
                <a:spcAft>
                  <a:spcPts val="0"/>
                </a:spcAft>
                <a:buNone/>
              </a:pPr>
              <a:r>
                <a:rPr lang="en" sz="337"/>
                <a:t>Jf</a:t>
              </a:r>
              <a:endParaRPr sz="337"/>
            </a:p>
          </p:txBody>
        </p:sp>
        <p:sp>
          <p:nvSpPr>
            <p:cNvPr id="90" name="Google Shape;90;p13"/>
            <p:cNvSpPr txBox="1"/>
            <p:nvPr/>
          </p:nvSpPr>
          <p:spPr>
            <a:xfrm>
              <a:off x="6085588" y="2018461"/>
              <a:ext cx="596700" cy="362100"/>
            </a:xfrm>
            <a:prstGeom prst="rect">
              <a:avLst/>
            </a:prstGeom>
            <a:noFill/>
            <a:ln>
              <a:noFill/>
            </a:ln>
          </p:spPr>
          <p:txBody>
            <a:bodyPr anchorCtr="0" anchor="t" bIns="22050" lIns="22050" spcFirstLastPara="1" rIns="22050" wrap="square" tIns="22050">
              <a:noAutofit/>
            </a:bodyPr>
            <a:lstStyle/>
            <a:p>
              <a:pPr indent="0" lvl="0" marL="0" rtl="0" algn="l">
                <a:spcBef>
                  <a:spcPts val="0"/>
                </a:spcBef>
                <a:spcAft>
                  <a:spcPts val="0"/>
                </a:spcAft>
                <a:buNone/>
              </a:pPr>
              <a:r>
                <a:rPr lang="en" sz="337"/>
                <a:t>Jf</a:t>
              </a:r>
              <a:endParaRPr sz="337"/>
            </a:p>
          </p:txBody>
        </p:sp>
        <p:sp>
          <p:nvSpPr>
            <p:cNvPr id="91" name="Google Shape;91;p13"/>
            <p:cNvSpPr/>
            <p:nvPr/>
          </p:nvSpPr>
          <p:spPr>
            <a:xfrm>
              <a:off x="6807213" y="2876369"/>
              <a:ext cx="360000" cy="517800"/>
            </a:xfrm>
            <a:prstGeom prst="rect">
              <a:avLst/>
            </a:prstGeom>
            <a:noFill/>
            <a:ln cap="flat" cmpd="sng" w="2300">
              <a:solidFill>
                <a:srgbClr val="000000"/>
              </a:solidFill>
              <a:prstDash val="solid"/>
              <a:round/>
              <a:headEnd len="sm" w="sm" type="none"/>
              <a:tailEnd len="sm" w="sm" type="none"/>
            </a:ln>
          </p:spPr>
          <p:txBody>
            <a:bodyPr anchorCtr="0" anchor="ctr" bIns="22050" lIns="22050" spcFirstLastPara="1" rIns="22050" wrap="square" tIns="22050">
              <a:noAutofit/>
            </a:bodyPr>
            <a:lstStyle/>
            <a:p>
              <a:pPr indent="0" lvl="0" marL="0" rtl="0" algn="ctr">
                <a:spcBef>
                  <a:spcPts val="0"/>
                </a:spcBef>
                <a:spcAft>
                  <a:spcPts val="0"/>
                </a:spcAft>
                <a:buNone/>
              </a:pPr>
              <a:r>
                <a:rPr lang="en" sz="337"/>
                <a:t>Bb</a:t>
              </a:r>
              <a:endParaRPr sz="337"/>
            </a:p>
          </p:txBody>
        </p:sp>
        <p:sp>
          <p:nvSpPr>
            <p:cNvPr id="92" name="Google Shape;92;p13"/>
            <p:cNvSpPr txBox="1"/>
            <p:nvPr/>
          </p:nvSpPr>
          <p:spPr>
            <a:xfrm>
              <a:off x="3552168" y="2189803"/>
              <a:ext cx="596700" cy="362100"/>
            </a:xfrm>
            <a:prstGeom prst="rect">
              <a:avLst/>
            </a:prstGeom>
            <a:noFill/>
            <a:ln>
              <a:noFill/>
            </a:ln>
          </p:spPr>
          <p:txBody>
            <a:bodyPr anchorCtr="0" anchor="t" bIns="22050" lIns="22050" spcFirstLastPara="1" rIns="22050" wrap="square" tIns="22050">
              <a:noAutofit/>
            </a:bodyPr>
            <a:lstStyle/>
            <a:p>
              <a:pPr indent="0" lvl="0" marL="0" rtl="0" algn="l">
                <a:spcBef>
                  <a:spcPts val="0"/>
                </a:spcBef>
                <a:spcAft>
                  <a:spcPts val="0"/>
                </a:spcAft>
                <a:buNone/>
              </a:pPr>
              <a:r>
                <a:rPr lang="en" sz="337"/>
                <a:t>Jm</a:t>
              </a:r>
              <a:endParaRPr sz="337"/>
            </a:p>
          </p:txBody>
        </p:sp>
        <p:sp>
          <p:nvSpPr>
            <p:cNvPr id="93" name="Google Shape;93;p13"/>
            <p:cNvSpPr/>
            <p:nvPr/>
          </p:nvSpPr>
          <p:spPr>
            <a:xfrm rot="-1038511">
              <a:off x="1618711" y="1600872"/>
              <a:ext cx="558561" cy="214454"/>
            </a:xfrm>
            <a:custGeom>
              <a:rect b="b" l="l" r="r" t="t"/>
              <a:pathLst>
                <a:path extrusionOk="0" h="11088" w="28876">
                  <a:moveTo>
                    <a:pt x="0" y="5229"/>
                  </a:moveTo>
                  <a:cubicBezTo>
                    <a:pt x="2226" y="2725"/>
                    <a:pt x="5827" y="-1081"/>
                    <a:pt x="8824" y="417"/>
                  </a:cubicBezTo>
                  <a:cubicBezTo>
                    <a:pt x="11380" y="1694"/>
                    <a:pt x="8689" y="11290"/>
                    <a:pt x="7219" y="8839"/>
                  </a:cubicBezTo>
                  <a:cubicBezTo>
                    <a:pt x="5527" y="6019"/>
                    <a:pt x="12754" y="4427"/>
                    <a:pt x="16042" y="4427"/>
                  </a:cubicBezTo>
                  <a:cubicBezTo>
                    <a:pt x="18247" y="4427"/>
                    <a:pt x="19206" y="9285"/>
                    <a:pt x="17647" y="10844"/>
                  </a:cubicBezTo>
                  <a:cubicBezTo>
                    <a:pt x="16167" y="12324"/>
                    <a:pt x="12809" y="5737"/>
                    <a:pt x="14839" y="5229"/>
                  </a:cubicBezTo>
                  <a:cubicBezTo>
                    <a:pt x="18244" y="4378"/>
                    <a:pt x="24178" y="4997"/>
                    <a:pt x="24866" y="8438"/>
                  </a:cubicBezTo>
                  <a:cubicBezTo>
                    <a:pt x="25032" y="9267"/>
                    <a:pt x="24909" y="10844"/>
                    <a:pt x="24064" y="10844"/>
                  </a:cubicBezTo>
                  <a:cubicBezTo>
                    <a:pt x="21888" y="10844"/>
                    <a:pt x="27338" y="4894"/>
                    <a:pt x="28876" y="6433"/>
                  </a:cubicBezTo>
                </a:path>
              </a:pathLst>
            </a:custGeom>
            <a:noFill/>
            <a:ln cap="flat" cmpd="sng" w="2300">
              <a:solidFill>
                <a:srgbClr val="000000"/>
              </a:solidFill>
              <a:prstDash val="solid"/>
              <a:round/>
              <a:headEnd len="med" w="med" type="none"/>
              <a:tailEnd len="med" w="med" type="none"/>
            </a:ln>
          </p:spPr>
        </p:sp>
        <p:cxnSp>
          <p:nvCxnSpPr>
            <p:cNvPr id="94" name="Google Shape;94;p13"/>
            <p:cNvCxnSpPr/>
            <p:nvPr/>
          </p:nvCxnSpPr>
          <p:spPr>
            <a:xfrm>
              <a:off x="681963" y="1666493"/>
              <a:ext cx="280500" cy="2100"/>
            </a:xfrm>
            <a:prstGeom prst="straightConnector1">
              <a:avLst/>
            </a:prstGeom>
            <a:noFill/>
            <a:ln cap="flat" cmpd="sng" w="2300">
              <a:solidFill>
                <a:srgbClr val="000000"/>
              </a:solidFill>
              <a:prstDash val="solid"/>
              <a:round/>
              <a:headEnd len="med" w="med" type="none"/>
              <a:tailEnd len="med" w="med" type="none"/>
            </a:ln>
          </p:spPr>
        </p:cxnSp>
        <p:cxnSp>
          <p:nvCxnSpPr>
            <p:cNvPr id="95" name="Google Shape;95;p13"/>
            <p:cNvCxnSpPr/>
            <p:nvPr/>
          </p:nvCxnSpPr>
          <p:spPr>
            <a:xfrm>
              <a:off x="1474938" y="1684869"/>
              <a:ext cx="201600" cy="0"/>
            </a:xfrm>
            <a:prstGeom prst="straightConnector1">
              <a:avLst/>
            </a:prstGeom>
            <a:noFill/>
            <a:ln cap="flat" cmpd="sng" w="2300">
              <a:solidFill>
                <a:srgbClr val="000000"/>
              </a:solidFill>
              <a:prstDash val="solid"/>
              <a:round/>
              <a:headEnd len="med" w="med" type="none"/>
              <a:tailEnd len="med" w="med" type="none"/>
            </a:ln>
          </p:spPr>
        </p:cxnSp>
        <p:cxnSp>
          <p:nvCxnSpPr>
            <p:cNvPr id="96" name="Google Shape;96;p13"/>
            <p:cNvCxnSpPr/>
            <p:nvPr/>
          </p:nvCxnSpPr>
          <p:spPr>
            <a:xfrm>
              <a:off x="2169960" y="1648946"/>
              <a:ext cx="305100" cy="2100"/>
            </a:xfrm>
            <a:prstGeom prst="straightConnector1">
              <a:avLst/>
            </a:prstGeom>
            <a:noFill/>
            <a:ln cap="flat" cmpd="sng" w="2300">
              <a:solidFill>
                <a:srgbClr val="000000"/>
              </a:solidFill>
              <a:prstDash val="solid"/>
              <a:round/>
              <a:headEnd len="med" w="med" type="none"/>
              <a:tailEnd len="med" w="med" type="none"/>
            </a:ln>
          </p:spPr>
        </p:cxnSp>
        <p:cxnSp>
          <p:nvCxnSpPr>
            <p:cNvPr id="97" name="Google Shape;97;p13"/>
            <p:cNvCxnSpPr/>
            <p:nvPr/>
          </p:nvCxnSpPr>
          <p:spPr>
            <a:xfrm flipH="1" rot="10800000">
              <a:off x="1218815" y="1568590"/>
              <a:ext cx="155100" cy="108600"/>
            </a:xfrm>
            <a:prstGeom prst="straightConnector1">
              <a:avLst/>
            </a:prstGeom>
            <a:noFill/>
            <a:ln cap="flat" cmpd="sng" w="2300">
              <a:solidFill>
                <a:srgbClr val="000000"/>
              </a:solidFill>
              <a:prstDash val="solid"/>
              <a:round/>
              <a:headEnd len="med" w="med" type="none"/>
              <a:tailEnd len="med" w="med" type="none"/>
            </a:ln>
          </p:spPr>
        </p:cxnSp>
        <p:cxnSp>
          <p:nvCxnSpPr>
            <p:cNvPr id="98" name="Google Shape;98;p13"/>
            <p:cNvCxnSpPr/>
            <p:nvPr/>
          </p:nvCxnSpPr>
          <p:spPr>
            <a:xfrm>
              <a:off x="1373967" y="1568578"/>
              <a:ext cx="101100" cy="116100"/>
            </a:xfrm>
            <a:prstGeom prst="straightConnector1">
              <a:avLst/>
            </a:prstGeom>
            <a:noFill/>
            <a:ln cap="flat" cmpd="sng" w="2300">
              <a:solidFill>
                <a:srgbClr val="000000"/>
              </a:solidFill>
              <a:prstDash val="solid"/>
              <a:round/>
              <a:headEnd len="med" w="med" type="none"/>
              <a:tailEnd len="med" w="med" type="none"/>
            </a:ln>
          </p:spPr>
        </p:cxnSp>
        <p:cxnSp>
          <p:nvCxnSpPr>
            <p:cNvPr id="99" name="Google Shape;99;p13"/>
            <p:cNvCxnSpPr/>
            <p:nvPr/>
          </p:nvCxnSpPr>
          <p:spPr>
            <a:xfrm flipH="1" rot="10800000">
              <a:off x="962595" y="1575747"/>
              <a:ext cx="155100" cy="108600"/>
            </a:xfrm>
            <a:prstGeom prst="straightConnector1">
              <a:avLst/>
            </a:prstGeom>
            <a:noFill/>
            <a:ln cap="flat" cmpd="sng" w="2300">
              <a:solidFill>
                <a:srgbClr val="000000"/>
              </a:solidFill>
              <a:prstDash val="solid"/>
              <a:round/>
              <a:headEnd len="med" w="med" type="none"/>
              <a:tailEnd len="med" w="med" type="none"/>
            </a:ln>
          </p:spPr>
        </p:cxnSp>
        <p:cxnSp>
          <p:nvCxnSpPr>
            <p:cNvPr id="100" name="Google Shape;100;p13"/>
            <p:cNvCxnSpPr/>
            <p:nvPr/>
          </p:nvCxnSpPr>
          <p:spPr>
            <a:xfrm>
              <a:off x="1117747" y="1575735"/>
              <a:ext cx="101100" cy="116100"/>
            </a:xfrm>
            <a:prstGeom prst="straightConnector1">
              <a:avLst/>
            </a:prstGeom>
            <a:noFill/>
            <a:ln cap="flat" cmpd="sng" w="2300">
              <a:solidFill>
                <a:srgbClr val="000000"/>
              </a:solidFill>
              <a:prstDash val="solid"/>
              <a:round/>
              <a:headEnd len="med" w="med" type="none"/>
              <a:tailEnd len="med" w="med" type="none"/>
            </a:ln>
          </p:spPr>
        </p:cxnSp>
        <p:sp>
          <p:nvSpPr>
            <p:cNvPr id="101" name="Google Shape;101;p13"/>
            <p:cNvSpPr txBox="1"/>
            <p:nvPr/>
          </p:nvSpPr>
          <p:spPr>
            <a:xfrm>
              <a:off x="998070" y="1231175"/>
              <a:ext cx="596700" cy="362100"/>
            </a:xfrm>
            <a:prstGeom prst="rect">
              <a:avLst/>
            </a:prstGeom>
            <a:noFill/>
            <a:ln>
              <a:noFill/>
            </a:ln>
          </p:spPr>
          <p:txBody>
            <a:bodyPr anchorCtr="0" anchor="t" bIns="22050" lIns="22050" spcFirstLastPara="1" rIns="22050" wrap="square" tIns="22050">
              <a:noAutofit/>
            </a:bodyPr>
            <a:lstStyle/>
            <a:p>
              <a:pPr indent="0" lvl="0" marL="0" rtl="0" algn="l">
                <a:spcBef>
                  <a:spcPts val="0"/>
                </a:spcBef>
                <a:spcAft>
                  <a:spcPts val="0"/>
                </a:spcAft>
                <a:buNone/>
              </a:pPr>
              <a:r>
                <a:rPr lang="en" sz="337"/>
                <a:t>Rm</a:t>
              </a:r>
              <a:endParaRPr sz="337"/>
            </a:p>
          </p:txBody>
        </p:sp>
        <p:sp>
          <p:nvSpPr>
            <p:cNvPr id="102" name="Google Shape;102;p13"/>
            <p:cNvSpPr txBox="1"/>
            <p:nvPr/>
          </p:nvSpPr>
          <p:spPr>
            <a:xfrm>
              <a:off x="1676649" y="1231175"/>
              <a:ext cx="596700" cy="362100"/>
            </a:xfrm>
            <a:prstGeom prst="rect">
              <a:avLst/>
            </a:prstGeom>
            <a:noFill/>
            <a:ln>
              <a:noFill/>
            </a:ln>
          </p:spPr>
          <p:txBody>
            <a:bodyPr anchorCtr="0" anchor="t" bIns="22050" lIns="22050" spcFirstLastPara="1" rIns="22050" wrap="square" tIns="22050">
              <a:noAutofit/>
            </a:bodyPr>
            <a:lstStyle/>
            <a:p>
              <a:pPr indent="0" lvl="0" marL="0" rtl="0" algn="l">
                <a:spcBef>
                  <a:spcPts val="0"/>
                </a:spcBef>
                <a:spcAft>
                  <a:spcPts val="0"/>
                </a:spcAft>
                <a:buNone/>
              </a:pPr>
              <a:r>
                <a:rPr lang="en" sz="337"/>
                <a:t>Lm</a:t>
              </a:r>
              <a:endParaRPr sz="337"/>
            </a:p>
          </p:txBody>
        </p:sp>
      </p:grpSp>
      <p:sp>
        <p:nvSpPr>
          <p:cNvPr id="103" name="Google Shape;103;p13"/>
          <p:cNvSpPr txBox="1"/>
          <p:nvPr/>
        </p:nvSpPr>
        <p:spPr>
          <a:xfrm>
            <a:off x="165475" y="1617669"/>
            <a:ext cx="2613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1"/>
                </a:solidFill>
                <a:latin typeface="Roboto"/>
                <a:ea typeface="Roboto"/>
                <a:cs typeface="Roboto"/>
                <a:sym typeface="Roboto"/>
              </a:rPr>
              <a:t>Experimental setup and schematic drawing</a:t>
            </a:r>
            <a:endParaRPr/>
          </a:p>
        </p:txBody>
      </p:sp>
      <p:sp>
        <p:nvSpPr>
          <p:cNvPr id="104" name="Google Shape;104;p13"/>
          <p:cNvSpPr txBox="1"/>
          <p:nvPr/>
        </p:nvSpPr>
        <p:spPr>
          <a:xfrm>
            <a:off x="167399" y="4047400"/>
            <a:ext cx="24033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1"/>
                </a:solidFill>
                <a:latin typeface="Roboto"/>
                <a:ea typeface="Roboto"/>
                <a:cs typeface="Roboto"/>
                <a:sym typeface="Roboto"/>
              </a:rPr>
              <a:t>Experimental Characterization</a:t>
            </a:r>
            <a:endParaRPr sz="700">
              <a:latin typeface="Roboto"/>
              <a:ea typeface="Roboto"/>
              <a:cs typeface="Roboto"/>
              <a:sym typeface="Roboto"/>
            </a:endParaRPr>
          </a:p>
        </p:txBody>
      </p:sp>
      <p:sp>
        <p:nvSpPr>
          <p:cNvPr id="105" name="Google Shape;105;p13"/>
          <p:cNvSpPr txBox="1"/>
          <p:nvPr/>
        </p:nvSpPr>
        <p:spPr>
          <a:xfrm>
            <a:off x="203200" y="3719100"/>
            <a:ext cx="2787600" cy="415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500">
                <a:solidFill>
                  <a:schemeClr val="dk1"/>
                </a:solidFill>
                <a:latin typeface="Roboto"/>
                <a:ea typeface="Roboto"/>
                <a:cs typeface="Roboto"/>
                <a:sym typeface="Roboto"/>
              </a:rPr>
              <a:t>Electrical:</a:t>
            </a:r>
            <a:r>
              <a:rPr lang="en" sz="500">
                <a:solidFill>
                  <a:schemeClr val="dk1"/>
                </a:solidFill>
                <a:latin typeface="Roboto"/>
                <a:ea typeface="Roboto"/>
                <a:cs typeface="Roboto"/>
                <a:sym typeface="Roboto"/>
              </a:rPr>
              <a:t> </a:t>
            </a:r>
            <a:r>
              <a:rPr b="1" lang="en" sz="500">
                <a:solidFill>
                  <a:schemeClr val="dk1"/>
                </a:solidFill>
                <a:latin typeface="Roboto"/>
                <a:ea typeface="Roboto"/>
                <a:cs typeface="Roboto"/>
                <a:sym typeface="Roboto"/>
              </a:rPr>
              <a:t>R</a:t>
            </a:r>
            <a:r>
              <a:rPr b="1"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motor resistance, </a:t>
            </a:r>
            <a:r>
              <a:rPr b="1" lang="en" sz="500">
                <a:solidFill>
                  <a:schemeClr val="dk1"/>
                </a:solidFill>
                <a:latin typeface="Roboto"/>
                <a:ea typeface="Roboto"/>
                <a:cs typeface="Roboto"/>
                <a:sym typeface="Roboto"/>
              </a:rPr>
              <a:t>L</a:t>
            </a:r>
            <a:r>
              <a:rPr b="1"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motor inductance, </a:t>
            </a:r>
            <a:r>
              <a:rPr b="1" lang="en" sz="500">
                <a:solidFill>
                  <a:schemeClr val="dk1"/>
                </a:solidFill>
                <a:latin typeface="Roboto"/>
                <a:ea typeface="Roboto"/>
                <a:cs typeface="Roboto"/>
                <a:sym typeface="Roboto"/>
              </a:rPr>
              <a:t>V</a:t>
            </a:r>
            <a:r>
              <a:rPr b="1" baseline="-25000" lang="en" sz="500">
                <a:solidFill>
                  <a:schemeClr val="dk1"/>
                </a:solidFill>
                <a:latin typeface="Roboto"/>
                <a:ea typeface="Roboto"/>
                <a:cs typeface="Roboto"/>
                <a:sym typeface="Roboto"/>
              </a:rPr>
              <a:t>in</a:t>
            </a:r>
            <a:r>
              <a:rPr lang="en" sz="500">
                <a:solidFill>
                  <a:schemeClr val="dk1"/>
                </a:solidFill>
                <a:latin typeface="Roboto"/>
                <a:ea typeface="Roboto"/>
                <a:cs typeface="Roboto"/>
                <a:sym typeface="Roboto"/>
              </a:rPr>
              <a:t> input voltage, </a:t>
            </a:r>
            <a:r>
              <a:rPr b="1" lang="en" sz="500">
                <a:solidFill>
                  <a:schemeClr val="dk1"/>
                </a:solidFill>
                <a:latin typeface="Roboto"/>
                <a:ea typeface="Roboto"/>
                <a:cs typeface="Roboto"/>
                <a:sym typeface="Roboto"/>
              </a:rPr>
              <a:t>V</a:t>
            </a:r>
            <a:r>
              <a:rPr b="1" baseline="-25000" lang="en" sz="500">
                <a:solidFill>
                  <a:schemeClr val="dk1"/>
                </a:solidFill>
                <a:latin typeface="Roboto"/>
                <a:ea typeface="Roboto"/>
                <a:cs typeface="Roboto"/>
                <a:sym typeface="Roboto"/>
              </a:rPr>
              <a:t>emf</a:t>
            </a:r>
            <a:r>
              <a:rPr lang="en" sz="500">
                <a:solidFill>
                  <a:schemeClr val="dk1"/>
                </a:solidFill>
                <a:latin typeface="Roboto"/>
                <a:ea typeface="Roboto"/>
                <a:cs typeface="Roboto"/>
                <a:sym typeface="Roboto"/>
              </a:rPr>
              <a:t> motor back-EMF. </a:t>
            </a:r>
            <a:endParaRPr sz="500">
              <a:solidFill>
                <a:schemeClr val="dk1"/>
              </a:solidFill>
              <a:latin typeface="Roboto"/>
              <a:ea typeface="Roboto"/>
              <a:cs typeface="Roboto"/>
              <a:sym typeface="Roboto"/>
            </a:endParaRPr>
          </a:p>
          <a:p>
            <a:pPr indent="0" lvl="0" marL="0" rtl="0" algn="just">
              <a:spcBef>
                <a:spcPts val="0"/>
              </a:spcBef>
              <a:spcAft>
                <a:spcPts val="0"/>
              </a:spcAft>
              <a:buNone/>
            </a:pPr>
            <a:r>
              <a:rPr b="1" lang="en" sz="500">
                <a:solidFill>
                  <a:schemeClr val="dk1"/>
                </a:solidFill>
                <a:latin typeface="Roboto"/>
                <a:ea typeface="Roboto"/>
                <a:cs typeface="Roboto"/>
                <a:sym typeface="Roboto"/>
              </a:rPr>
              <a:t>Mechanical:</a:t>
            </a:r>
            <a:r>
              <a:rPr lang="en" sz="500">
                <a:solidFill>
                  <a:schemeClr val="dk1"/>
                </a:solidFill>
                <a:latin typeface="Roboto"/>
                <a:ea typeface="Roboto"/>
                <a:cs typeface="Roboto"/>
                <a:sym typeface="Roboto"/>
              </a:rPr>
              <a:t> </a:t>
            </a:r>
            <a:r>
              <a:rPr b="1" lang="en" sz="500">
                <a:solidFill>
                  <a:schemeClr val="dk1"/>
                </a:solidFill>
                <a:latin typeface="Roboto"/>
                <a:ea typeface="Roboto"/>
                <a:cs typeface="Roboto"/>
                <a:sym typeface="Roboto"/>
              </a:rPr>
              <a:t>B</a:t>
            </a:r>
            <a:r>
              <a:rPr b="1"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motor damping, </a:t>
            </a:r>
            <a:r>
              <a:rPr b="1" lang="en" sz="500">
                <a:solidFill>
                  <a:schemeClr val="dk1"/>
                </a:solidFill>
                <a:latin typeface="Roboto"/>
                <a:ea typeface="Roboto"/>
                <a:cs typeface="Roboto"/>
                <a:sym typeface="Roboto"/>
              </a:rPr>
              <a:t>J</a:t>
            </a:r>
            <a:r>
              <a:rPr b="1"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motor inertia, </a:t>
            </a:r>
            <a:r>
              <a:rPr b="1" lang="en" sz="500">
                <a:solidFill>
                  <a:schemeClr val="dk1"/>
                </a:solidFill>
                <a:latin typeface="Roboto"/>
                <a:ea typeface="Roboto"/>
                <a:cs typeface="Roboto"/>
                <a:sym typeface="Roboto"/>
              </a:rPr>
              <a:t>J</a:t>
            </a:r>
            <a:r>
              <a:rPr b="1" baseline="-25000" lang="en" sz="500">
                <a:solidFill>
                  <a:schemeClr val="dk1"/>
                </a:solidFill>
                <a:latin typeface="Roboto"/>
                <a:ea typeface="Roboto"/>
                <a:cs typeface="Roboto"/>
                <a:sym typeface="Roboto"/>
              </a:rPr>
              <a:t>f</a:t>
            </a:r>
            <a:r>
              <a:rPr lang="en" sz="500">
                <a:solidFill>
                  <a:schemeClr val="dk1"/>
                </a:solidFill>
                <a:latin typeface="Roboto"/>
                <a:ea typeface="Roboto"/>
                <a:cs typeface="Roboto"/>
                <a:sym typeface="Roboto"/>
              </a:rPr>
              <a:t> flywh</a:t>
            </a:r>
            <a:r>
              <a:rPr lang="en" sz="500">
                <a:solidFill>
                  <a:schemeClr val="dk1"/>
                </a:solidFill>
                <a:latin typeface="Roboto"/>
                <a:ea typeface="Roboto"/>
                <a:cs typeface="Roboto"/>
                <a:sym typeface="Roboto"/>
              </a:rPr>
              <a:t>e</a:t>
            </a:r>
            <a:r>
              <a:rPr lang="en" sz="500">
                <a:solidFill>
                  <a:schemeClr val="dk1"/>
                </a:solidFill>
                <a:latin typeface="Roboto"/>
                <a:ea typeface="Roboto"/>
                <a:cs typeface="Roboto"/>
                <a:sym typeface="Roboto"/>
              </a:rPr>
              <a:t>el inertia, </a:t>
            </a:r>
            <a:r>
              <a:rPr b="1" lang="en" sz="500">
                <a:solidFill>
                  <a:schemeClr val="dk1"/>
                </a:solidFill>
                <a:latin typeface="Roboto"/>
                <a:ea typeface="Roboto"/>
                <a:cs typeface="Roboto"/>
                <a:sym typeface="Roboto"/>
              </a:rPr>
              <a:t>B</a:t>
            </a:r>
            <a:r>
              <a:rPr b="1" baseline="-25000" lang="en" sz="500">
                <a:solidFill>
                  <a:schemeClr val="dk1"/>
                </a:solidFill>
                <a:latin typeface="Roboto"/>
                <a:ea typeface="Roboto"/>
                <a:cs typeface="Roboto"/>
                <a:sym typeface="Roboto"/>
              </a:rPr>
              <a:t>s</a:t>
            </a:r>
            <a:r>
              <a:rPr lang="en" sz="500">
                <a:solidFill>
                  <a:schemeClr val="dk1"/>
                </a:solidFill>
                <a:latin typeface="Roboto"/>
                <a:ea typeface="Roboto"/>
                <a:cs typeface="Roboto"/>
                <a:sym typeface="Roboto"/>
              </a:rPr>
              <a:t> shaft damping, </a:t>
            </a:r>
            <a:r>
              <a:rPr b="1" lang="en" sz="500">
                <a:solidFill>
                  <a:schemeClr val="dk1"/>
                </a:solidFill>
                <a:latin typeface="Roboto"/>
                <a:ea typeface="Roboto"/>
                <a:cs typeface="Roboto"/>
                <a:sym typeface="Roboto"/>
              </a:rPr>
              <a:t>K</a:t>
            </a:r>
            <a:r>
              <a:rPr lang="en" sz="500">
                <a:solidFill>
                  <a:schemeClr val="dk1"/>
                </a:solidFill>
                <a:latin typeface="Roboto"/>
                <a:ea typeface="Roboto"/>
                <a:cs typeface="Roboto"/>
                <a:sym typeface="Roboto"/>
              </a:rPr>
              <a:t> torsional spring constant, </a:t>
            </a:r>
            <a:r>
              <a:rPr b="1" lang="en" sz="500">
                <a:solidFill>
                  <a:schemeClr val="dk1"/>
                </a:solidFill>
                <a:latin typeface="Roboto"/>
                <a:ea typeface="Roboto"/>
                <a:cs typeface="Roboto"/>
                <a:sym typeface="Roboto"/>
              </a:rPr>
              <a:t>B</a:t>
            </a:r>
            <a:r>
              <a:rPr b="1" baseline="-25000" lang="en" sz="500">
                <a:solidFill>
                  <a:schemeClr val="dk1"/>
                </a:solidFill>
                <a:latin typeface="Roboto"/>
                <a:ea typeface="Roboto"/>
                <a:cs typeface="Roboto"/>
                <a:sym typeface="Roboto"/>
              </a:rPr>
              <a:t>b</a:t>
            </a:r>
            <a:r>
              <a:rPr lang="en" sz="500">
                <a:solidFill>
                  <a:schemeClr val="dk1"/>
                </a:solidFill>
                <a:latin typeface="Roboto"/>
                <a:ea typeface="Roboto"/>
                <a:cs typeface="Roboto"/>
                <a:sym typeface="Roboto"/>
              </a:rPr>
              <a:t> bearing damping.</a:t>
            </a:r>
            <a:endParaRPr sz="500">
              <a:solidFill>
                <a:schemeClr val="dk1"/>
              </a:solidFill>
              <a:latin typeface="Roboto"/>
              <a:ea typeface="Roboto"/>
              <a:cs typeface="Roboto"/>
              <a:sym typeface="Roboto"/>
            </a:endParaRPr>
          </a:p>
        </p:txBody>
      </p:sp>
      <p:sp>
        <p:nvSpPr>
          <p:cNvPr id="106" name="Google Shape;106;p13"/>
          <p:cNvSpPr/>
          <p:nvPr/>
        </p:nvSpPr>
        <p:spPr>
          <a:xfrm>
            <a:off x="3083240" y="686025"/>
            <a:ext cx="2855400" cy="174000"/>
          </a:xfrm>
          <a:prstGeom prst="rect">
            <a:avLst/>
          </a:prstGeom>
          <a:solidFill>
            <a:srgbClr val="00274C"/>
          </a:solidFill>
          <a:ln cap="flat" cmpd="sng" w="2150">
            <a:solidFill>
              <a:schemeClr val="dk2"/>
            </a:solidFill>
            <a:prstDash val="solid"/>
            <a:round/>
            <a:headEnd len="sm" w="sm" type="none"/>
            <a:tailEnd len="sm" w="sm" type="none"/>
          </a:ln>
        </p:spPr>
        <p:txBody>
          <a:bodyPr anchorCtr="0" anchor="ctr" bIns="17550" lIns="17550" spcFirstLastPara="1" rIns="17550" wrap="square" tIns="175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107" name="Google Shape;107;p13"/>
          <p:cNvSpPr txBox="1"/>
          <p:nvPr/>
        </p:nvSpPr>
        <p:spPr>
          <a:xfrm>
            <a:off x="3296811" y="686037"/>
            <a:ext cx="2560500" cy="158700"/>
          </a:xfrm>
          <a:prstGeom prst="rect">
            <a:avLst/>
          </a:prstGeom>
          <a:noFill/>
          <a:ln>
            <a:noFill/>
          </a:ln>
        </p:spPr>
        <p:txBody>
          <a:bodyPr anchorCtr="0" anchor="t" bIns="17550" lIns="17550" spcFirstLastPara="1" rIns="17550" wrap="square" tIns="17550">
            <a:spAutoFit/>
          </a:bodyPr>
          <a:lstStyle/>
          <a:p>
            <a:pPr indent="0" lvl="0" marL="0" marR="0" rtl="0" algn="ctr">
              <a:lnSpc>
                <a:spcPct val="100000"/>
              </a:lnSpc>
              <a:spcBef>
                <a:spcPts val="0"/>
              </a:spcBef>
              <a:spcAft>
                <a:spcPts val="0"/>
              </a:spcAft>
              <a:buClr>
                <a:srgbClr val="000000"/>
              </a:buClr>
              <a:buSzPts val="900"/>
              <a:buFont typeface="Arial"/>
              <a:buNone/>
            </a:pPr>
            <a:r>
              <a:rPr lang="en" sz="800">
                <a:solidFill>
                  <a:schemeClr val="lt1"/>
                </a:solidFill>
                <a:latin typeface="Roboto Medium"/>
                <a:ea typeface="Roboto Medium"/>
                <a:cs typeface="Roboto Medium"/>
                <a:sym typeface="Roboto Medium"/>
              </a:rPr>
              <a:t>Model Validation</a:t>
            </a:r>
            <a:endParaRPr b="0" i="0" sz="800" u="none" cap="none" strike="noStrike">
              <a:solidFill>
                <a:schemeClr val="lt1"/>
              </a:solidFill>
              <a:latin typeface="Roboto Medium"/>
              <a:ea typeface="Roboto Medium"/>
              <a:cs typeface="Roboto Medium"/>
              <a:sym typeface="Roboto Medium"/>
            </a:endParaRPr>
          </a:p>
        </p:txBody>
      </p:sp>
      <p:sp>
        <p:nvSpPr>
          <p:cNvPr id="108" name="Google Shape;108;p13"/>
          <p:cNvSpPr/>
          <p:nvPr/>
        </p:nvSpPr>
        <p:spPr>
          <a:xfrm>
            <a:off x="6113625" y="3189737"/>
            <a:ext cx="2939100" cy="174000"/>
          </a:xfrm>
          <a:prstGeom prst="rect">
            <a:avLst/>
          </a:prstGeom>
          <a:solidFill>
            <a:srgbClr val="00274C"/>
          </a:solidFill>
          <a:ln cap="flat" cmpd="sng" w="2150">
            <a:solidFill>
              <a:schemeClr val="dk2"/>
            </a:solidFill>
            <a:prstDash val="solid"/>
            <a:round/>
            <a:headEnd len="sm" w="sm" type="none"/>
            <a:tailEnd len="sm" w="sm" type="none"/>
          </a:ln>
        </p:spPr>
        <p:txBody>
          <a:bodyPr anchorCtr="0" anchor="ctr" bIns="17550" lIns="17550" spcFirstLastPara="1" rIns="17550" wrap="square" tIns="175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109" name="Google Shape;109;p13"/>
          <p:cNvSpPr txBox="1"/>
          <p:nvPr/>
        </p:nvSpPr>
        <p:spPr>
          <a:xfrm>
            <a:off x="6255769" y="3202891"/>
            <a:ext cx="2651100" cy="158700"/>
          </a:xfrm>
          <a:prstGeom prst="rect">
            <a:avLst/>
          </a:prstGeom>
          <a:noFill/>
          <a:ln>
            <a:noFill/>
          </a:ln>
        </p:spPr>
        <p:txBody>
          <a:bodyPr anchorCtr="0" anchor="t" bIns="17550" lIns="17550" spcFirstLastPara="1" rIns="17550" wrap="square" tIns="17550">
            <a:spAutoFit/>
          </a:bodyPr>
          <a:lstStyle/>
          <a:p>
            <a:pPr indent="0" lvl="0" marL="0" marR="0" rtl="0" algn="ctr">
              <a:lnSpc>
                <a:spcPct val="100000"/>
              </a:lnSpc>
              <a:spcBef>
                <a:spcPts val="0"/>
              </a:spcBef>
              <a:spcAft>
                <a:spcPts val="0"/>
              </a:spcAft>
              <a:buClr>
                <a:srgbClr val="000000"/>
              </a:buClr>
              <a:buSzPts val="900"/>
              <a:buFont typeface="Arial"/>
              <a:buNone/>
            </a:pPr>
            <a:r>
              <a:rPr lang="en" sz="800">
                <a:solidFill>
                  <a:schemeClr val="lt1"/>
                </a:solidFill>
                <a:latin typeface="Roboto Medium"/>
                <a:ea typeface="Roboto Medium"/>
                <a:cs typeface="Roboto Medium"/>
                <a:sym typeface="Roboto Medium"/>
              </a:rPr>
              <a:t>Design Recommendations</a:t>
            </a:r>
            <a:endParaRPr b="0" i="0" sz="800" u="none" cap="none" strike="noStrike">
              <a:solidFill>
                <a:schemeClr val="lt1"/>
              </a:solidFill>
              <a:latin typeface="Roboto Medium"/>
              <a:ea typeface="Roboto Medium"/>
              <a:cs typeface="Roboto Medium"/>
              <a:sym typeface="Roboto Medium"/>
            </a:endParaRPr>
          </a:p>
        </p:txBody>
      </p:sp>
      <p:sp>
        <p:nvSpPr>
          <p:cNvPr id="110" name="Google Shape;110;p13"/>
          <p:cNvSpPr/>
          <p:nvPr/>
        </p:nvSpPr>
        <p:spPr>
          <a:xfrm>
            <a:off x="6077450" y="686025"/>
            <a:ext cx="2956500" cy="174000"/>
          </a:xfrm>
          <a:prstGeom prst="rect">
            <a:avLst/>
          </a:prstGeom>
          <a:solidFill>
            <a:srgbClr val="00274C"/>
          </a:solidFill>
          <a:ln cap="flat" cmpd="sng" w="2150">
            <a:solidFill>
              <a:schemeClr val="dk2"/>
            </a:solidFill>
            <a:prstDash val="solid"/>
            <a:round/>
            <a:headEnd len="sm" w="sm" type="none"/>
            <a:tailEnd len="sm" w="sm" type="none"/>
          </a:ln>
        </p:spPr>
        <p:txBody>
          <a:bodyPr anchorCtr="0" anchor="ctr" bIns="17550" lIns="17550" spcFirstLastPara="1" rIns="17550" wrap="square" tIns="175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111" name="Google Shape;111;p13"/>
          <p:cNvSpPr txBox="1"/>
          <p:nvPr/>
        </p:nvSpPr>
        <p:spPr>
          <a:xfrm>
            <a:off x="6216907" y="684678"/>
            <a:ext cx="2651100" cy="158700"/>
          </a:xfrm>
          <a:prstGeom prst="rect">
            <a:avLst/>
          </a:prstGeom>
          <a:noFill/>
          <a:ln>
            <a:noFill/>
          </a:ln>
        </p:spPr>
        <p:txBody>
          <a:bodyPr anchorCtr="0" anchor="t" bIns="17550" lIns="17550" spcFirstLastPara="1" rIns="17550" wrap="square" tIns="17550">
            <a:spAutoFit/>
          </a:bodyPr>
          <a:lstStyle/>
          <a:p>
            <a:pPr indent="0" lvl="0" marL="0" marR="0" rtl="0" algn="ctr">
              <a:lnSpc>
                <a:spcPct val="100000"/>
              </a:lnSpc>
              <a:spcBef>
                <a:spcPts val="0"/>
              </a:spcBef>
              <a:spcAft>
                <a:spcPts val="0"/>
              </a:spcAft>
              <a:buClr>
                <a:srgbClr val="000000"/>
              </a:buClr>
              <a:buSzPts val="900"/>
              <a:buFont typeface="Arial"/>
              <a:buNone/>
            </a:pPr>
            <a:r>
              <a:rPr lang="en" sz="800">
                <a:solidFill>
                  <a:schemeClr val="lt1"/>
                </a:solidFill>
                <a:latin typeface="Roboto Medium"/>
                <a:ea typeface="Roboto Medium"/>
                <a:cs typeface="Roboto Medium"/>
                <a:sym typeface="Roboto Medium"/>
              </a:rPr>
              <a:t>Vibration Reduction</a:t>
            </a:r>
            <a:endParaRPr b="0" i="0" sz="800" u="none" cap="none" strike="noStrike">
              <a:solidFill>
                <a:schemeClr val="lt1"/>
              </a:solidFill>
              <a:latin typeface="Roboto Medium"/>
              <a:ea typeface="Roboto Medium"/>
              <a:cs typeface="Roboto Medium"/>
              <a:sym typeface="Roboto Medium"/>
            </a:endParaRPr>
          </a:p>
        </p:txBody>
      </p:sp>
      <p:graphicFrame>
        <p:nvGraphicFramePr>
          <p:cNvPr id="112" name="Google Shape;112;p13"/>
          <p:cNvGraphicFramePr/>
          <p:nvPr/>
        </p:nvGraphicFramePr>
        <p:xfrm>
          <a:off x="3102675" y="2651918"/>
          <a:ext cx="3000000" cy="3000000"/>
        </p:xfrm>
        <a:graphic>
          <a:graphicData uri="http://schemas.openxmlformats.org/drawingml/2006/table">
            <a:tbl>
              <a:tblPr>
                <a:noFill/>
                <a:tableStyleId>{7F23AECF-CA3E-4763-B325-B36E7C5BADDE}</a:tableStyleId>
              </a:tblPr>
              <a:tblGrid>
                <a:gridCol w="758500"/>
                <a:gridCol w="597550"/>
                <a:gridCol w="739950"/>
                <a:gridCol w="739950"/>
              </a:tblGrid>
              <a:tr h="174350">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Metric</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Experimental</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Analytical / </a:t>
                      </a:r>
                      <a:r>
                        <a:rPr b="1" lang="en" sz="500">
                          <a:latin typeface="Roboto"/>
                          <a:ea typeface="Roboto"/>
                          <a:cs typeface="Roboto"/>
                          <a:sym typeface="Roboto"/>
                        </a:rPr>
                        <a:t>Model</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Percent</a:t>
                      </a:r>
                      <a:r>
                        <a:rPr b="1" lang="en" sz="500">
                          <a:latin typeface="Roboto"/>
                          <a:ea typeface="Roboto"/>
                          <a:cs typeface="Roboto"/>
                          <a:sym typeface="Roboto"/>
                        </a:rPr>
                        <a:t> Difference</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171500">
                <a:tc>
                  <a:txBody>
                    <a:bodyPr/>
                    <a:lstStyle/>
                    <a:p>
                      <a:pPr indent="0" lvl="0" marL="0" rtl="0" algn="ctr">
                        <a:lnSpc>
                          <a:spcPct val="6000"/>
                        </a:lnSpc>
                        <a:spcBef>
                          <a:spcPts val="0"/>
                        </a:spcBef>
                        <a:spcAft>
                          <a:spcPts val="0"/>
                        </a:spcAft>
                        <a:buNone/>
                      </a:pPr>
                      <a:r>
                        <a:rPr lang="en" sz="500">
                          <a:latin typeface="Roboto"/>
                          <a:ea typeface="Roboto"/>
                          <a:cs typeface="Roboto"/>
                          <a:sym typeface="Roboto"/>
                        </a:rPr>
                        <a:t>Resonant frequency</a:t>
                      </a:r>
                      <a:endParaRPr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5.40 Hz</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5.52 Hz</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2.17%</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169825">
                <a:tc>
                  <a:txBody>
                    <a:bodyPr/>
                    <a:lstStyle/>
                    <a:p>
                      <a:pPr indent="0" lvl="0" marL="0" rtl="0" algn="ctr">
                        <a:lnSpc>
                          <a:spcPct val="6000"/>
                        </a:lnSpc>
                        <a:spcBef>
                          <a:spcPts val="0"/>
                        </a:spcBef>
                        <a:spcAft>
                          <a:spcPts val="0"/>
                        </a:spcAft>
                        <a:buNone/>
                      </a:pPr>
                      <a:r>
                        <a:rPr lang="en" sz="500">
                          <a:latin typeface="Roboto"/>
                          <a:ea typeface="Roboto"/>
                          <a:cs typeface="Roboto"/>
                          <a:sym typeface="Roboto"/>
                        </a:rPr>
                        <a:t>Resonant amplitude</a:t>
                      </a:r>
                      <a:endParaRPr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10.24 dB</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9.62 dB</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6000"/>
                        </a:lnSpc>
                        <a:spcBef>
                          <a:spcPts val="0"/>
                        </a:spcBef>
                        <a:spcAft>
                          <a:spcPts val="0"/>
                        </a:spcAft>
                        <a:buNone/>
                      </a:pPr>
                      <a:r>
                        <a:rPr b="1" lang="en" sz="500">
                          <a:latin typeface="Roboto"/>
                          <a:ea typeface="Roboto"/>
                          <a:cs typeface="Roboto"/>
                          <a:sym typeface="Roboto"/>
                        </a:rPr>
                        <a:t>6.44%</a:t>
                      </a:r>
                      <a:endParaRPr b="1" sz="500">
                        <a:latin typeface="Roboto"/>
                        <a:ea typeface="Roboto"/>
                        <a:cs typeface="Roboto"/>
                        <a:sym typeface="Roboto"/>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113" name="Google Shape;113;p13"/>
          <p:cNvSpPr txBox="1"/>
          <p:nvPr/>
        </p:nvSpPr>
        <p:spPr>
          <a:xfrm>
            <a:off x="6103050" y="3379925"/>
            <a:ext cx="2956500" cy="1035900"/>
          </a:xfrm>
          <a:prstGeom prst="rect">
            <a:avLst/>
          </a:prstGeom>
          <a:noFill/>
          <a:ln>
            <a:noFill/>
          </a:ln>
        </p:spPr>
        <p:txBody>
          <a:bodyPr anchorCtr="0" anchor="t" bIns="17550" lIns="17550" spcFirstLastPara="1" rIns="17550" wrap="square" tIns="17550">
            <a:spAutoFit/>
          </a:bodyPr>
          <a:lstStyle/>
          <a:p>
            <a:pPr indent="-77470" lvl="0" marL="274320" marR="0" rtl="0" algn="just">
              <a:lnSpc>
                <a:spcPct val="100000"/>
              </a:lnSpc>
              <a:spcBef>
                <a:spcPts val="0"/>
              </a:spcBef>
              <a:spcAft>
                <a:spcPts val="0"/>
              </a:spcAft>
              <a:buClr>
                <a:schemeClr val="dk1"/>
              </a:buClr>
              <a:buSzPts val="500"/>
              <a:buFont typeface="Roboto"/>
              <a:buAutoNum type="arabicPeriod"/>
            </a:pPr>
            <a:r>
              <a:rPr b="1" lang="en" sz="500">
                <a:solidFill>
                  <a:schemeClr val="dk1"/>
                </a:solidFill>
                <a:latin typeface="Roboto"/>
                <a:ea typeface="Roboto"/>
                <a:cs typeface="Roboto"/>
                <a:sym typeface="Roboto"/>
              </a:rPr>
              <a:t>Use a more damped motor-side coupling or torsional damper </a:t>
            </a:r>
            <a:r>
              <a:rPr lang="en" sz="500">
                <a:solidFill>
                  <a:schemeClr val="dk1"/>
                </a:solidFill>
                <a:latin typeface="Roboto"/>
                <a:ea typeface="Roboto"/>
                <a:cs typeface="Roboto"/>
                <a:sym typeface="Roboto"/>
              </a:rPr>
              <a:t>to increase motor damping (</a:t>
            </a:r>
            <a:r>
              <a:rPr lang="en" sz="500">
                <a:solidFill>
                  <a:schemeClr val="dk1"/>
                </a:solidFill>
                <a:latin typeface="Roboto"/>
                <a:ea typeface="Roboto"/>
                <a:cs typeface="Roboto"/>
                <a:sym typeface="Roboto"/>
              </a:rPr>
              <a:t>B</a:t>
            </a:r>
            <a:r>
              <a:rPr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a:t>
            </a:r>
            <a:r>
              <a:rPr lang="en" sz="500">
                <a:solidFill>
                  <a:schemeClr val="dk1"/>
                </a:solidFill>
                <a:latin typeface="Roboto"/>
                <a:ea typeface="Roboto"/>
                <a:cs typeface="Roboto"/>
                <a:sym typeface="Roboto"/>
              </a:rPr>
              <a:t>by </a:t>
            </a:r>
            <a:r>
              <a:rPr b="1" lang="en" sz="500">
                <a:solidFill>
                  <a:schemeClr val="dk1"/>
                </a:solidFill>
                <a:latin typeface="Roboto"/>
                <a:ea typeface="Roboto"/>
                <a:cs typeface="Roboto"/>
                <a:sym typeface="Roboto"/>
              </a:rPr>
              <a:t>97%</a:t>
            </a:r>
            <a:r>
              <a:rPr lang="en" sz="500">
                <a:solidFill>
                  <a:schemeClr val="dk1"/>
                </a:solidFill>
                <a:latin typeface="Roboto"/>
                <a:ea typeface="Roboto"/>
                <a:cs typeface="Roboto"/>
                <a:sym typeface="Roboto"/>
              </a:rPr>
              <a:t>.</a:t>
            </a:r>
            <a:endParaRPr sz="500">
              <a:solidFill>
                <a:schemeClr val="dk1"/>
              </a:solidFill>
              <a:latin typeface="Roboto"/>
              <a:ea typeface="Roboto"/>
              <a:cs typeface="Roboto"/>
              <a:sym typeface="Roboto"/>
            </a:endParaRPr>
          </a:p>
          <a:p>
            <a:pPr indent="-77470" lvl="0" marL="274320" marR="0" rtl="0" algn="just">
              <a:lnSpc>
                <a:spcPct val="100000"/>
              </a:lnSpc>
              <a:spcBef>
                <a:spcPts val="0"/>
              </a:spcBef>
              <a:spcAft>
                <a:spcPts val="0"/>
              </a:spcAft>
              <a:buClr>
                <a:schemeClr val="dk1"/>
              </a:buClr>
              <a:buSzPts val="500"/>
              <a:buFont typeface="Roboto"/>
              <a:buAutoNum type="arabicPeriod"/>
            </a:pPr>
            <a:r>
              <a:rPr b="1" lang="en" sz="500">
                <a:solidFill>
                  <a:schemeClr val="dk1"/>
                </a:solidFill>
                <a:latin typeface="Roboto"/>
                <a:ea typeface="Roboto"/>
                <a:cs typeface="Roboto"/>
                <a:sym typeface="Roboto"/>
              </a:rPr>
              <a:t>Use a more dissipative shaft-coupling interface</a:t>
            </a:r>
            <a:r>
              <a:rPr lang="en" sz="500">
                <a:solidFill>
                  <a:schemeClr val="dk1"/>
                </a:solidFill>
                <a:latin typeface="Roboto"/>
                <a:ea typeface="Roboto"/>
                <a:cs typeface="Roboto"/>
                <a:sym typeface="Roboto"/>
              </a:rPr>
              <a:t> to increase </a:t>
            </a:r>
            <a:r>
              <a:rPr lang="en" sz="500">
                <a:solidFill>
                  <a:schemeClr val="dk1"/>
                </a:solidFill>
                <a:latin typeface="Roboto"/>
                <a:ea typeface="Roboto"/>
                <a:cs typeface="Roboto"/>
                <a:sym typeface="Roboto"/>
              </a:rPr>
              <a:t>shaft</a:t>
            </a:r>
            <a:r>
              <a:rPr lang="en" sz="500">
                <a:solidFill>
                  <a:schemeClr val="dk1"/>
                </a:solidFill>
                <a:latin typeface="Roboto"/>
                <a:ea typeface="Roboto"/>
                <a:cs typeface="Roboto"/>
                <a:sym typeface="Roboto"/>
              </a:rPr>
              <a:t> damping (B</a:t>
            </a:r>
            <a:r>
              <a:rPr baseline="-25000" lang="en" sz="500">
                <a:solidFill>
                  <a:schemeClr val="dk1"/>
                </a:solidFill>
                <a:latin typeface="Roboto"/>
                <a:ea typeface="Roboto"/>
                <a:cs typeface="Roboto"/>
                <a:sym typeface="Roboto"/>
              </a:rPr>
              <a:t>s</a:t>
            </a:r>
            <a:r>
              <a:rPr lang="en" sz="500">
                <a:solidFill>
                  <a:schemeClr val="dk1"/>
                </a:solidFill>
                <a:latin typeface="Roboto"/>
                <a:ea typeface="Roboto"/>
                <a:cs typeface="Roboto"/>
                <a:sym typeface="Roboto"/>
              </a:rPr>
              <a:t>) by </a:t>
            </a:r>
            <a:r>
              <a:rPr b="1" lang="en" sz="500">
                <a:solidFill>
                  <a:schemeClr val="dk1"/>
                </a:solidFill>
                <a:latin typeface="Roboto"/>
                <a:ea typeface="Roboto"/>
                <a:cs typeface="Roboto"/>
                <a:sym typeface="Roboto"/>
              </a:rPr>
              <a:t>219%</a:t>
            </a:r>
            <a:r>
              <a:rPr lang="en" sz="500">
                <a:solidFill>
                  <a:schemeClr val="dk1"/>
                </a:solidFill>
                <a:latin typeface="Roboto"/>
                <a:ea typeface="Roboto"/>
                <a:cs typeface="Roboto"/>
                <a:sym typeface="Roboto"/>
              </a:rPr>
              <a:t>. This is effective but requires a very large parameter change.</a:t>
            </a:r>
            <a:endParaRPr sz="500">
              <a:solidFill>
                <a:schemeClr val="dk1"/>
              </a:solidFill>
              <a:latin typeface="Roboto"/>
              <a:ea typeface="Roboto"/>
              <a:cs typeface="Roboto"/>
              <a:sym typeface="Roboto"/>
            </a:endParaRPr>
          </a:p>
          <a:p>
            <a:pPr indent="-77470" lvl="0" marL="274320" marR="0" rtl="0" algn="just">
              <a:lnSpc>
                <a:spcPct val="100000"/>
              </a:lnSpc>
              <a:spcBef>
                <a:spcPts val="0"/>
              </a:spcBef>
              <a:spcAft>
                <a:spcPts val="0"/>
              </a:spcAft>
              <a:buClr>
                <a:schemeClr val="dk1"/>
              </a:buClr>
              <a:buSzPts val="500"/>
              <a:buFont typeface="Roboto"/>
              <a:buAutoNum type="arabicPeriod"/>
            </a:pPr>
            <a:r>
              <a:rPr b="1" lang="en" sz="500">
                <a:solidFill>
                  <a:schemeClr val="dk1"/>
                </a:solidFill>
                <a:latin typeface="Roboto"/>
                <a:ea typeface="Roboto"/>
                <a:cs typeface="Roboto"/>
                <a:sym typeface="Roboto"/>
              </a:rPr>
              <a:t>I</a:t>
            </a:r>
            <a:r>
              <a:rPr b="1" lang="en" sz="500">
                <a:solidFill>
                  <a:schemeClr val="dk1"/>
                </a:solidFill>
                <a:latin typeface="Roboto"/>
                <a:ea typeface="Roboto"/>
                <a:cs typeface="Roboto"/>
                <a:sym typeface="Roboto"/>
              </a:rPr>
              <a:t>ncrease</a:t>
            </a:r>
            <a:r>
              <a:rPr b="1" lang="en" sz="500">
                <a:solidFill>
                  <a:schemeClr val="dk1"/>
                </a:solidFill>
                <a:latin typeface="Roboto"/>
                <a:ea typeface="Roboto"/>
                <a:cs typeface="Roboto"/>
                <a:sym typeface="Roboto"/>
              </a:rPr>
              <a:t> effective motor resistance</a:t>
            </a:r>
            <a:r>
              <a:rPr lang="en" sz="500">
                <a:solidFill>
                  <a:schemeClr val="dk1"/>
                </a:solidFill>
                <a:latin typeface="Roboto"/>
                <a:ea typeface="Roboto"/>
                <a:cs typeface="Roboto"/>
                <a:sym typeface="Roboto"/>
              </a:rPr>
              <a:t> to increase motor resistance (R</a:t>
            </a:r>
            <a:r>
              <a:rPr baseline="-25000" lang="en" sz="500">
                <a:solidFill>
                  <a:schemeClr val="dk1"/>
                </a:solidFill>
                <a:latin typeface="Roboto"/>
                <a:ea typeface="Roboto"/>
                <a:cs typeface="Roboto"/>
                <a:sym typeface="Roboto"/>
              </a:rPr>
              <a:t>m</a:t>
            </a:r>
            <a:r>
              <a:rPr lang="en" sz="500">
                <a:solidFill>
                  <a:schemeClr val="dk1"/>
                </a:solidFill>
                <a:latin typeface="Roboto"/>
                <a:ea typeface="Roboto"/>
                <a:cs typeface="Roboto"/>
                <a:sym typeface="Roboto"/>
              </a:rPr>
              <a:t>) from about </a:t>
            </a:r>
            <a:r>
              <a:rPr b="1" lang="en" sz="500">
                <a:solidFill>
                  <a:schemeClr val="dk1"/>
                </a:solidFill>
                <a:latin typeface="Roboto"/>
                <a:ea typeface="Roboto"/>
                <a:cs typeface="Roboto"/>
                <a:sym typeface="Roboto"/>
              </a:rPr>
              <a:t>2.06 </a:t>
            </a:r>
            <a:r>
              <a:rPr lang="en" sz="500">
                <a:solidFill>
                  <a:schemeClr val="dk1"/>
                </a:solidFill>
                <a:latin typeface="Roboto"/>
                <a:ea typeface="Roboto"/>
                <a:cs typeface="Roboto"/>
                <a:sym typeface="Roboto"/>
              </a:rPr>
              <a:t>to </a:t>
            </a:r>
            <a:r>
              <a:rPr b="1" lang="en" sz="500">
                <a:solidFill>
                  <a:schemeClr val="dk1"/>
                </a:solidFill>
                <a:latin typeface="Roboto"/>
                <a:ea typeface="Roboto"/>
                <a:cs typeface="Roboto"/>
                <a:sym typeface="Roboto"/>
              </a:rPr>
              <a:t>3.40Ω</a:t>
            </a:r>
            <a:r>
              <a:rPr lang="en" sz="500">
                <a:solidFill>
                  <a:schemeClr val="dk1"/>
                </a:solidFill>
                <a:latin typeface="Roboto"/>
                <a:ea typeface="Roboto"/>
                <a:cs typeface="Roboto"/>
                <a:sym typeface="Roboto"/>
              </a:rPr>
              <a:t> (</a:t>
            </a:r>
            <a:r>
              <a:rPr b="1" lang="en" sz="500">
                <a:solidFill>
                  <a:schemeClr val="dk1"/>
                </a:solidFill>
                <a:latin typeface="Roboto"/>
                <a:ea typeface="Roboto"/>
                <a:cs typeface="Roboto"/>
                <a:sym typeface="Roboto"/>
              </a:rPr>
              <a:t>+65%</a:t>
            </a:r>
            <a:r>
              <a:rPr lang="en" sz="500">
                <a:solidFill>
                  <a:schemeClr val="dk1"/>
                </a:solidFill>
                <a:latin typeface="Roboto"/>
                <a:ea typeface="Roboto"/>
                <a:cs typeface="Roboto"/>
                <a:sym typeface="Roboto"/>
              </a:rPr>
              <a:t>). This is easier to implement electrically but would increase electrical losses and heat generation.</a:t>
            </a:r>
            <a:endParaRPr sz="500">
              <a:solidFill>
                <a:schemeClr val="dk1"/>
              </a:solidFill>
              <a:latin typeface="Roboto"/>
              <a:ea typeface="Roboto"/>
              <a:cs typeface="Roboto"/>
              <a:sym typeface="Roboto"/>
            </a:endParaRPr>
          </a:p>
          <a:p>
            <a:pPr indent="-77470" lvl="0" marL="274320" marR="0" rtl="0" algn="just">
              <a:lnSpc>
                <a:spcPct val="100000"/>
              </a:lnSpc>
              <a:spcBef>
                <a:spcPts val="0"/>
              </a:spcBef>
              <a:spcAft>
                <a:spcPts val="0"/>
              </a:spcAft>
              <a:buClr>
                <a:schemeClr val="dk1"/>
              </a:buClr>
              <a:buSzPts val="500"/>
              <a:buFont typeface="Roboto"/>
              <a:buAutoNum type="arabicPeriod"/>
            </a:pPr>
            <a:r>
              <a:rPr b="1" lang="en" sz="500">
                <a:solidFill>
                  <a:schemeClr val="dk1"/>
                </a:solidFill>
                <a:latin typeface="Roboto"/>
                <a:ea typeface="Roboto"/>
                <a:cs typeface="Roboto"/>
                <a:sym typeface="Roboto"/>
              </a:rPr>
              <a:t>Select a lower K</a:t>
            </a:r>
            <a:r>
              <a:rPr b="1" baseline="-25000" lang="en" sz="500">
                <a:solidFill>
                  <a:schemeClr val="dk1"/>
                </a:solidFill>
                <a:latin typeface="Roboto"/>
                <a:ea typeface="Roboto"/>
                <a:cs typeface="Roboto"/>
                <a:sym typeface="Roboto"/>
              </a:rPr>
              <a:t>m</a:t>
            </a:r>
            <a:r>
              <a:rPr b="1" lang="en" sz="500">
                <a:solidFill>
                  <a:schemeClr val="dk1"/>
                </a:solidFill>
                <a:latin typeface="Roboto"/>
                <a:ea typeface="Roboto"/>
                <a:cs typeface="Roboto"/>
                <a:sym typeface="Roboto"/>
              </a:rPr>
              <a:t> motor </a:t>
            </a:r>
            <a:r>
              <a:rPr lang="en" sz="500">
                <a:solidFill>
                  <a:schemeClr val="dk1"/>
                </a:solidFill>
                <a:latin typeface="Roboto"/>
                <a:ea typeface="Roboto"/>
                <a:cs typeface="Roboto"/>
                <a:sym typeface="Roboto"/>
              </a:rPr>
              <a:t>to reduce the motor constant from about</a:t>
            </a:r>
            <a:r>
              <a:rPr lang="en" sz="500">
                <a:solidFill>
                  <a:schemeClr val="dk1"/>
                </a:solidFill>
                <a:latin typeface="Roboto"/>
                <a:ea typeface="Roboto"/>
                <a:cs typeface="Roboto"/>
                <a:sym typeface="Roboto"/>
              </a:rPr>
              <a:t> </a:t>
            </a:r>
            <a:r>
              <a:rPr b="1" lang="en" sz="500">
                <a:solidFill>
                  <a:schemeClr val="dk1"/>
                </a:solidFill>
                <a:latin typeface="Roboto"/>
                <a:ea typeface="Roboto"/>
                <a:cs typeface="Roboto"/>
                <a:sym typeface="Roboto"/>
              </a:rPr>
              <a:t>0.112</a:t>
            </a:r>
            <a:r>
              <a:rPr lang="en" sz="500">
                <a:solidFill>
                  <a:schemeClr val="dk1"/>
                </a:solidFill>
                <a:latin typeface="Roboto"/>
                <a:ea typeface="Roboto"/>
                <a:cs typeface="Roboto"/>
                <a:sym typeface="Roboto"/>
              </a:rPr>
              <a:t> to </a:t>
            </a:r>
            <a:r>
              <a:rPr b="1" lang="en" sz="500">
                <a:solidFill>
                  <a:schemeClr val="dk1"/>
                </a:solidFill>
                <a:latin typeface="Roboto"/>
                <a:ea typeface="Roboto"/>
                <a:cs typeface="Roboto"/>
                <a:sym typeface="Roboto"/>
              </a:rPr>
              <a:t>0.059 V/(rad/s)</a:t>
            </a:r>
            <a:r>
              <a:rPr lang="en" sz="500">
                <a:solidFill>
                  <a:schemeClr val="dk1"/>
                </a:solidFill>
                <a:latin typeface="Roboto"/>
                <a:ea typeface="Roboto"/>
                <a:cs typeface="Roboto"/>
                <a:sym typeface="Roboto"/>
              </a:rPr>
              <a:t> (</a:t>
            </a:r>
            <a:r>
              <a:rPr b="1" lang="en" sz="500">
                <a:solidFill>
                  <a:schemeClr val="dk1"/>
                </a:solidFill>
                <a:latin typeface="Roboto"/>
                <a:ea typeface="Roboto"/>
                <a:cs typeface="Roboto"/>
                <a:sym typeface="Roboto"/>
              </a:rPr>
              <a:t>−47%</a:t>
            </a:r>
            <a:r>
              <a:rPr lang="en" sz="500">
                <a:solidFill>
                  <a:schemeClr val="dk1"/>
                </a:solidFill>
                <a:latin typeface="Roboto"/>
                <a:ea typeface="Roboto"/>
                <a:cs typeface="Roboto"/>
                <a:sym typeface="Roboto"/>
              </a:rPr>
              <a:t>). This meets the target but would likely require replacing or redesigning the motor.</a:t>
            </a:r>
            <a:endParaRPr sz="500">
              <a:solidFill>
                <a:schemeClr val="dk1"/>
              </a:solidFill>
              <a:latin typeface="Roboto"/>
              <a:ea typeface="Roboto"/>
              <a:cs typeface="Roboto"/>
              <a:sym typeface="Roboto"/>
            </a:endParaRPr>
          </a:p>
          <a:p>
            <a:pPr indent="0" lvl="0" marL="0" marR="0" rtl="0" algn="just">
              <a:lnSpc>
                <a:spcPct val="100000"/>
              </a:lnSpc>
              <a:spcBef>
                <a:spcPts val="0"/>
              </a:spcBef>
              <a:spcAft>
                <a:spcPts val="0"/>
              </a:spcAft>
              <a:buNone/>
            </a:pPr>
            <a:r>
              <a:t/>
            </a:r>
            <a:endParaRPr sz="500">
              <a:solidFill>
                <a:schemeClr val="dk1"/>
              </a:solidFill>
              <a:latin typeface="Roboto"/>
              <a:ea typeface="Roboto"/>
              <a:cs typeface="Roboto"/>
              <a:sym typeface="Roboto"/>
            </a:endParaRPr>
          </a:p>
          <a:p>
            <a:pPr indent="0" lvl="0" marL="0" marR="0" rtl="0" algn="just">
              <a:lnSpc>
                <a:spcPct val="100000"/>
              </a:lnSpc>
              <a:spcBef>
                <a:spcPts val="0"/>
              </a:spcBef>
              <a:spcAft>
                <a:spcPts val="0"/>
              </a:spcAft>
              <a:buNone/>
            </a:pPr>
            <a:r>
              <a:rPr lang="en" sz="500">
                <a:solidFill>
                  <a:schemeClr val="dk1"/>
                </a:solidFill>
                <a:latin typeface="Roboto"/>
                <a:ea typeface="Roboto"/>
                <a:cs typeface="Roboto"/>
                <a:sym typeface="Roboto"/>
              </a:rPr>
              <a:t>Increasing shaft stiffness (K) by </a:t>
            </a:r>
            <a:r>
              <a:rPr b="1" lang="en" sz="500">
                <a:solidFill>
                  <a:schemeClr val="dk1"/>
                </a:solidFill>
                <a:latin typeface="Roboto"/>
                <a:ea typeface="Roboto"/>
                <a:cs typeface="Roboto"/>
                <a:sym typeface="Roboto"/>
              </a:rPr>
              <a:t>118.6%</a:t>
            </a:r>
            <a:r>
              <a:rPr lang="en" sz="500">
                <a:solidFill>
                  <a:schemeClr val="dk1"/>
                </a:solidFill>
                <a:latin typeface="Roboto"/>
                <a:ea typeface="Roboto"/>
                <a:cs typeface="Roboto"/>
                <a:sym typeface="Roboto"/>
              </a:rPr>
              <a:t> reduced the peak turn-on/off relative-speed transient by 30%, but did not reduce the resonant transmissibility peak by 30%. This could be achieved by increasing shaft diameter, decreasing shaft length, or using a material with a higher shear modulus.</a:t>
            </a:r>
            <a:endParaRPr sz="500">
              <a:solidFill>
                <a:schemeClr val="dk1"/>
              </a:solidFill>
              <a:latin typeface="Roboto"/>
              <a:ea typeface="Roboto"/>
              <a:cs typeface="Roboto"/>
              <a:sym typeface="Roboto"/>
            </a:endParaRPr>
          </a:p>
        </p:txBody>
      </p:sp>
      <p:pic>
        <p:nvPicPr>
          <p:cNvPr id="114" name="Google Shape;114;p13"/>
          <p:cNvPicPr preferRelativeResize="0"/>
          <p:nvPr/>
        </p:nvPicPr>
        <p:blipFill>
          <a:blip r:embed="rId4">
            <a:alphaModFix/>
          </a:blip>
          <a:stretch>
            <a:fillRect/>
          </a:stretch>
        </p:blipFill>
        <p:spPr>
          <a:xfrm>
            <a:off x="7903828" y="112952"/>
            <a:ext cx="1045320" cy="415500"/>
          </a:xfrm>
          <a:prstGeom prst="rect">
            <a:avLst/>
          </a:prstGeom>
          <a:noFill/>
          <a:ln>
            <a:noFill/>
          </a:ln>
        </p:spPr>
      </p:pic>
      <p:sp>
        <p:nvSpPr>
          <p:cNvPr id="115" name="Google Shape;115;p13"/>
          <p:cNvSpPr/>
          <p:nvPr/>
        </p:nvSpPr>
        <p:spPr>
          <a:xfrm>
            <a:off x="3083240" y="3289455"/>
            <a:ext cx="2855400" cy="174000"/>
          </a:xfrm>
          <a:prstGeom prst="rect">
            <a:avLst/>
          </a:prstGeom>
          <a:solidFill>
            <a:srgbClr val="00274C"/>
          </a:solidFill>
          <a:ln cap="flat" cmpd="sng" w="2150">
            <a:solidFill>
              <a:schemeClr val="dk2"/>
            </a:solidFill>
            <a:prstDash val="solid"/>
            <a:round/>
            <a:headEnd len="sm" w="sm" type="none"/>
            <a:tailEnd len="sm" w="sm" type="none"/>
          </a:ln>
        </p:spPr>
        <p:txBody>
          <a:bodyPr anchorCtr="0" anchor="ctr" bIns="17550" lIns="17550" spcFirstLastPara="1" rIns="17550" wrap="square" tIns="17550">
            <a:no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p:txBody>
      </p:sp>
      <p:sp>
        <p:nvSpPr>
          <p:cNvPr id="116" name="Google Shape;116;p13"/>
          <p:cNvSpPr txBox="1"/>
          <p:nvPr/>
        </p:nvSpPr>
        <p:spPr>
          <a:xfrm>
            <a:off x="3296811" y="3289467"/>
            <a:ext cx="2560500" cy="158700"/>
          </a:xfrm>
          <a:prstGeom prst="rect">
            <a:avLst/>
          </a:prstGeom>
          <a:noFill/>
          <a:ln>
            <a:noFill/>
          </a:ln>
        </p:spPr>
        <p:txBody>
          <a:bodyPr anchorCtr="0" anchor="t" bIns="17550" lIns="17550" spcFirstLastPara="1" rIns="17550" wrap="square" tIns="17550">
            <a:spAutoFit/>
          </a:bodyPr>
          <a:lstStyle/>
          <a:p>
            <a:pPr indent="0" lvl="0" marL="0" marR="0" rtl="0" algn="ctr">
              <a:lnSpc>
                <a:spcPct val="100000"/>
              </a:lnSpc>
              <a:spcBef>
                <a:spcPts val="0"/>
              </a:spcBef>
              <a:spcAft>
                <a:spcPts val="0"/>
              </a:spcAft>
              <a:buClr>
                <a:srgbClr val="000000"/>
              </a:buClr>
              <a:buSzPts val="900"/>
              <a:buFont typeface="Arial"/>
              <a:buNone/>
            </a:pPr>
            <a:r>
              <a:rPr lang="en" sz="800">
                <a:solidFill>
                  <a:schemeClr val="lt1"/>
                </a:solidFill>
                <a:latin typeface="Roboto Medium"/>
                <a:ea typeface="Roboto Medium"/>
                <a:cs typeface="Roboto Medium"/>
                <a:sym typeface="Roboto Medium"/>
              </a:rPr>
              <a:t>Wheel Speed Analysis</a:t>
            </a:r>
            <a:endParaRPr b="0" i="0" sz="800" u="none" cap="none" strike="noStrike">
              <a:solidFill>
                <a:schemeClr val="lt1"/>
              </a:solidFill>
              <a:latin typeface="Roboto Medium"/>
              <a:ea typeface="Roboto Medium"/>
              <a:cs typeface="Roboto Medium"/>
              <a:sym typeface="Roboto Medium"/>
            </a:endParaRPr>
          </a:p>
        </p:txBody>
      </p:sp>
      <p:pic>
        <p:nvPicPr>
          <p:cNvPr id="117" name="Google Shape;117;p13" title="Flexible_Shaft_Bode_Plot.png"/>
          <p:cNvPicPr preferRelativeResize="0"/>
          <p:nvPr/>
        </p:nvPicPr>
        <p:blipFill rotWithShape="1">
          <a:blip r:embed="rId5">
            <a:alphaModFix/>
          </a:blip>
          <a:srcRect b="55968" l="0" r="0" t="0"/>
          <a:stretch/>
        </p:blipFill>
        <p:spPr>
          <a:xfrm>
            <a:off x="3094988" y="1018725"/>
            <a:ext cx="2855398" cy="768001"/>
          </a:xfrm>
          <a:prstGeom prst="rect">
            <a:avLst/>
          </a:prstGeom>
          <a:noFill/>
          <a:ln>
            <a:noFill/>
          </a:ln>
        </p:spPr>
      </p:pic>
      <p:pic>
        <p:nvPicPr>
          <p:cNvPr id="118" name="Google Shape;118;p13" title="Flexible_Shaft_Bode_Plot.png"/>
          <p:cNvPicPr preferRelativeResize="0"/>
          <p:nvPr/>
        </p:nvPicPr>
        <p:blipFill rotWithShape="1">
          <a:blip r:embed="rId5">
            <a:alphaModFix/>
          </a:blip>
          <a:srcRect b="0" l="0" r="0" t="51870"/>
          <a:stretch/>
        </p:blipFill>
        <p:spPr>
          <a:xfrm>
            <a:off x="3083225" y="1779075"/>
            <a:ext cx="2855398" cy="839474"/>
          </a:xfrm>
          <a:prstGeom prst="rect">
            <a:avLst/>
          </a:prstGeom>
          <a:noFill/>
          <a:ln>
            <a:noFill/>
          </a:ln>
        </p:spPr>
      </p:pic>
      <p:sp>
        <p:nvSpPr>
          <p:cNvPr id="119" name="Google Shape;119;p13"/>
          <p:cNvSpPr txBox="1"/>
          <p:nvPr/>
        </p:nvSpPr>
        <p:spPr>
          <a:xfrm>
            <a:off x="6153625" y="2791301"/>
            <a:ext cx="2855400" cy="243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500">
                <a:solidFill>
                  <a:schemeClr val="dk1"/>
                </a:solidFill>
                <a:latin typeface="Roboto"/>
                <a:ea typeface="Roboto"/>
                <a:cs typeface="Roboto"/>
                <a:sym typeface="Roboto"/>
              </a:rPr>
              <a:t>Increasing shaft stiffness improves the turn-on/off transient response, but it primarily shifts the torsional resonance rather than substantially </a:t>
            </a:r>
            <a:r>
              <a:rPr lang="en" sz="500">
                <a:solidFill>
                  <a:schemeClr val="dk1"/>
                </a:solidFill>
                <a:latin typeface="Roboto"/>
                <a:ea typeface="Roboto"/>
                <a:cs typeface="Roboto"/>
                <a:sym typeface="Roboto"/>
              </a:rPr>
              <a:t>reducing</a:t>
            </a:r>
            <a:r>
              <a:rPr lang="en" sz="500">
                <a:solidFill>
                  <a:schemeClr val="dk1"/>
                </a:solidFill>
                <a:latin typeface="Roboto"/>
                <a:ea typeface="Roboto"/>
                <a:cs typeface="Roboto"/>
                <a:sym typeface="Roboto"/>
              </a:rPr>
              <a:t> the </a:t>
            </a:r>
            <a:r>
              <a:rPr lang="en" sz="500">
                <a:solidFill>
                  <a:schemeClr val="dk1"/>
                </a:solidFill>
                <a:latin typeface="Roboto"/>
                <a:ea typeface="Roboto"/>
                <a:cs typeface="Roboto"/>
                <a:sym typeface="Roboto"/>
              </a:rPr>
              <a:t>resonant</a:t>
            </a:r>
            <a:r>
              <a:rPr lang="en" sz="500">
                <a:solidFill>
                  <a:schemeClr val="dk1"/>
                </a:solidFill>
                <a:latin typeface="Roboto"/>
                <a:ea typeface="Roboto"/>
                <a:cs typeface="Roboto"/>
                <a:sym typeface="Roboto"/>
              </a:rPr>
              <a:t> transmissibility peak</a:t>
            </a:r>
            <a:endParaRPr sz="500">
              <a:solidFill>
                <a:schemeClr val="dk1"/>
              </a:solidFill>
              <a:latin typeface="Roboto"/>
              <a:ea typeface="Roboto"/>
              <a:cs typeface="Roboto"/>
              <a:sym typeface="Roboto"/>
            </a:endParaRPr>
          </a:p>
        </p:txBody>
      </p:sp>
      <p:sp>
        <p:nvSpPr>
          <p:cNvPr id="120" name="Google Shape;120;p13"/>
          <p:cNvSpPr txBox="1"/>
          <p:nvPr/>
        </p:nvSpPr>
        <p:spPr>
          <a:xfrm>
            <a:off x="5085148" y="3519575"/>
            <a:ext cx="912900" cy="15165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 sz="500"/>
              <a:t>Motor start-up excites the system’s torsional resonance, causing the two flywheels to briefly rotate at different speeds. The flexible shaft transfers energy between them, producing a decaying oscillation until both reach the same steady-state speed. When the motor shuts off, the sudden loss of torque excites the torsional mode again, producing a second decaying transient.</a:t>
            </a:r>
            <a:endParaRPr sz="500"/>
          </a:p>
          <a:p>
            <a:pPr indent="0" lvl="0" marL="0" rtl="0" algn="just">
              <a:spcBef>
                <a:spcPts val="0"/>
              </a:spcBef>
              <a:spcAft>
                <a:spcPts val="0"/>
              </a:spcAft>
              <a:buNone/>
            </a:pPr>
            <a:r>
              <a:t/>
            </a:r>
            <a:endParaRPr sz="500"/>
          </a:p>
          <a:p>
            <a:pPr indent="0" lvl="0" marL="0" rtl="0" algn="just">
              <a:spcBef>
                <a:spcPts val="0"/>
              </a:spcBef>
              <a:spcAft>
                <a:spcPts val="0"/>
              </a:spcAft>
              <a:buNone/>
            </a:pPr>
            <a:r>
              <a:t/>
            </a:r>
            <a:endParaRPr sz="500"/>
          </a:p>
          <a:p>
            <a:pPr indent="0" lvl="0" marL="0" rtl="0" algn="just">
              <a:spcBef>
                <a:spcPts val="0"/>
              </a:spcBef>
              <a:spcAft>
                <a:spcPts val="0"/>
              </a:spcAft>
              <a:buNone/>
            </a:pPr>
            <a:r>
              <a:t/>
            </a:r>
            <a:endParaRPr sz="500"/>
          </a:p>
        </p:txBody>
      </p:sp>
      <p:pic>
        <p:nvPicPr>
          <p:cNvPr id="121" name="Google Shape;121;p13"/>
          <p:cNvPicPr preferRelativeResize="0"/>
          <p:nvPr/>
        </p:nvPicPr>
        <p:blipFill>
          <a:blip r:embed="rId6">
            <a:alphaModFix/>
          </a:blip>
          <a:stretch>
            <a:fillRect/>
          </a:stretch>
        </p:blipFill>
        <p:spPr>
          <a:xfrm>
            <a:off x="6077450" y="903000"/>
            <a:ext cx="2956499" cy="1953501"/>
          </a:xfrm>
          <a:prstGeom prst="rect">
            <a:avLst/>
          </a:prstGeom>
          <a:noFill/>
          <a:ln>
            <a:noFill/>
          </a:ln>
        </p:spPr>
      </p:pic>
      <p:pic>
        <p:nvPicPr>
          <p:cNvPr id="122" name="Google Shape;122;p13"/>
          <p:cNvPicPr preferRelativeResize="0"/>
          <p:nvPr/>
        </p:nvPicPr>
        <p:blipFill>
          <a:blip r:embed="rId7">
            <a:alphaModFix/>
          </a:blip>
          <a:stretch>
            <a:fillRect/>
          </a:stretch>
        </p:blipFill>
        <p:spPr>
          <a:xfrm>
            <a:off x="3048288" y="3537173"/>
            <a:ext cx="2027714" cy="13920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4"/>
          <p:cNvSpPr txBox="1"/>
          <p:nvPr/>
        </p:nvSpPr>
        <p:spPr>
          <a:xfrm>
            <a:off x="1478450" y="397575"/>
            <a:ext cx="7441800" cy="3632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Char char="●"/>
            </a:pPr>
            <a:r>
              <a:rPr lang="en">
                <a:solidFill>
                  <a:schemeClr val="dk2"/>
                </a:solidFill>
              </a:rPr>
              <a:t>Experimental data </a:t>
            </a:r>
            <a:r>
              <a:rPr lang="en">
                <a:solidFill>
                  <a:schemeClr val="dk2"/>
                </a:solidFill>
              </a:rPr>
              <a:t>acquired</a:t>
            </a:r>
            <a:r>
              <a:rPr lang="en">
                <a:solidFill>
                  <a:schemeClr val="dk2"/>
                </a:solidFill>
              </a:rPr>
              <a:t> to determine resonant frequency and validate model</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We determined the resonant </a:t>
            </a:r>
            <a:r>
              <a:rPr lang="en">
                <a:solidFill>
                  <a:schemeClr val="dk2"/>
                </a:solidFill>
              </a:rPr>
              <a:t>frequency</a:t>
            </a:r>
            <a:r>
              <a:rPr lang="en">
                <a:solidFill>
                  <a:schemeClr val="dk2"/>
                </a:solidFill>
              </a:rPr>
              <a:t> of 5.4Hz with an amplitude of 10dB</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We created our model based off of a series of experimental values we calculated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As seen in the table, our model matches the setup’s key metrics well</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The one inconsistency between the model and the experimental data </a:t>
            </a:r>
            <a:r>
              <a:rPr lang="en">
                <a:solidFill>
                  <a:schemeClr val="dk2"/>
                </a:solidFill>
              </a:rPr>
              <a:t>occurs</a:t>
            </a:r>
            <a:r>
              <a:rPr lang="en">
                <a:solidFill>
                  <a:schemeClr val="dk2"/>
                </a:solidFill>
              </a:rPr>
              <a:t> before the resonant frequency, when the experimental model overestimates the magnitude of </a:t>
            </a:r>
            <a:r>
              <a:rPr lang="en">
                <a:solidFill>
                  <a:schemeClr val="dk2"/>
                </a:solidFill>
              </a:rPr>
              <a:t>oscillations</a:t>
            </a:r>
            <a:r>
              <a:rPr lang="en">
                <a:solidFill>
                  <a:schemeClr val="dk2"/>
                </a:solidFill>
              </a:rPr>
              <a:t>.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The model only takes into account viscous friction and not </a:t>
            </a:r>
            <a:r>
              <a:rPr lang="en">
                <a:solidFill>
                  <a:schemeClr val="dk2"/>
                </a:solidFill>
              </a:rPr>
              <a:t>coulomb</a:t>
            </a:r>
            <a:r>
              <a:rPr lang="en">
                <a:solidFill>
                  <a:schemeClr val="dk2"/>
                </a:solidFill>
              </a:rPr>
              <a:t> friction. Viscous friction dominates at higher frequencies, while </a:t>
            </a:r>
            <a:r>
              <a:rPr lang="en">
                <a:solidFill>
                  <a:schemeClr val="dk2"/>
                </a:solidFill>
              </a:rPr>
              <a:t>coulomb friction is only relevant at lower frequencies</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Also graphed a plot if the shaft was completely rigid, which does eliminate vibrations but is unrealistic</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Another line if the shaft is 1000% more rigid, which simply shifts the resonant frequency and does not eliminate it</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We determined that a cars operating range is between 1-20Hz, so the peak and thus vibrations would still happen if you only made the shaft stiffer.</a:t>
            </a:r>
            <a:endParaRPr>
              <a:solidFill>
                <a:schemeClr val="dk2"/>
              </a:solidFill>
            </a:endParaRPr>
          </a:p>
        </p:txBody>
      </p:sp>
      <p:sp>
        <p:nvSpPr>
          <p:cNvPr id="128" name="Google Shape;128;p14"/>
          <p:cNvSpPr txBox="1"/>
          <p:nvPr/>
        </p:nvSpPr>
        <p:spPr>
          <a:xfrm>
            <a:off x="124250" y="111825"/>
            <a:ext cx="1863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Speaking notes</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5"/>
          <p:cNvSpPr/>
          <p:nvPr/>
        </p:nvSpPr>
        <p:spPr>
          <a:xfrm>
            <a:off x="47925" y="51625"/>
            <a:ext cx="9048300" cy="497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5"/>
          <p:cNvSpPr/>
          <p:nvPr/>
        </p:nvSpPr>
        <p:spPr>
          <a:xfrm>
            <a:off x="47775" y="593600"/>
            <a:ext cx="2953500" cy="447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5"/>
          <p:cNvSpPr/>
          <p:nvPr/>
        </p:nvSpPr>
        <p:spPr>
          <a:xfrm>
            <a:off x="3070350" y="593600"/>
            <a:ext cx="3003300" cy="447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5"/>
          <p:cNvSpPr/>
          <p:nvPr/>
        </p:nvSpPr>
        <p:spPr>
          <a:xfrm>
            <a:off x="6142700" y="593600"/>
            <a:ext cx="2953500" cy="447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7" name="Google Shape;137;p15" title="Flexible_Shaft_Bode_Plot_K_Comparison.png"/>
          <p:cNvPicPr preferRelativeResize="0"/>
          <p:nvPr/>
        </p:nvPicPr>
        <p:blipFill>
          <a:blip r:embed="rId3">
            <a:alphaModFix/>
          </a:blip>
          <a:stretch>
            <a:fillRect/>
          </a:stretch>
        </p:blipFill>
        <p:spPr>
          <a:xfrm>
            <a:off x="2759749" y="2944674"/>
            <a:ext cx="1373926" cy="1107598"/>
          </a:xfrm>
          <a:prstGeom prst="rect">
            <a:avLst/>
          </a:prstGeom>
          <a:noFill/>
          <a:ln>
            <a:noFill/>
          </a:ln>
        </p:spPr>
      </p:pic>
      <p:pic>
        <p:nvPicPr>
          <p:cNvPr id="138" name="Google Shape;138;p15" title="Flexible_Shaft_Bode_Plot.png"/>
          <p:cNvPicPr preferRelativeResize="0"/>
          <p:nvPr/>
        </p:nvPicPr>
        <p:blipFill>
          <a:blip r:embed="rId4">
            <a:alphaModFix/>
          </a:blip>
          <a:stretch>
            <a:fillRect/>
          </a:stretch>
        </p:blipFill>
        <p:spPr>
          <a:xfrm>
            <a:off x="3083240" y="1044991"/>
            <a:ext cx="2379421" cy="177698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Effective communication:</a:t>
            </a:r>
            <a:endParaRPr/>
          </a:p>
        </p:txBody>
      </p:sp>
      <p:sp>
        <p:nvSpPr>
          <p:cNvPr id="144" name="Google Shape;144;p16"/>
          <p:cNvSpPr txBox="1"/>
          <p:nvPr>
            <p:ph idx="1" type="body"/>
          </p:nvPr>
        </p:nvSpPr>
        <p:spPr>
          <a:xfrm>
            <a:off x="311700" y="1152475"/>
            <a:ext cx="8520600" cy="1516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lang="en"/>
              <a:t>1. adapt to your audience</a:t>
            </a:r>
            <a:endParaRPr/>
          </a:p>
          <a:p>
            <a:pPr indent="0" lvl="0" marL="0" rtl="0" algn="l">
              <a:spcBef>
                <a:spcPts val="1200"/>
              </a:spcBef>
              <a:spcAft>
                <a:spcPts val="0"/>
              </a:spcAft>
              <a:buClr>
                <a:schemeClr val="dk1"/>
              </a:buClr>
              <a:buSzPct val="61111"/>
              <a:buFont typeface="Arial"/>
              <a:buNone/>
            </a:pPr>
            <a:r>
              <a:rPr lang="en"/>
              <a:t>2. maximize the signal-to-noise ratio</a:t>
            </a:r>
            <a:endParaRPr/>
          </a:p>
          <a:p>
            <a:pPr indent="0" lvl="0" marL="0" rtl="0" algn="l">
              <a:spcBef>
                <a:spcPts val="1200"/>
              </a:spcBef>
              <a:spcAft>
                <a:spcPts val="0"/>
              </a:spcAft>
              <a:buClr>
                <a:schemeClr val="dk1"/>
              </a:buClr>
              <a:buSzPct val="61111"/>
              <a:buFont typeface="Arial"/>
              <a:buNone/>
            </a:pPr>
            <a:r>
              <a:rPr lang="en"/>
              <a:t>3. use effective redundancy</a:t>
            </a:r>
            <a:endParaRPr/>
          </a:p>
          <a:p>
            <a:pPr indent="0" lvl="0" marL="0" rtl="0" algn="l">
              <a:spcBef>
                <a:spcPts val="1200"/>
              </a:spcBef>
              <a:spcAft>
                <a:spcPts val="1200"/>
              </a:spcAft>
              <a:buNone/>
            </a:pPr>
            <a:r>
              <a:t/>
            </a:r>
            <a:endParaRPr/>
          </a:p>
        </p:txBody>
      </p:sp>
      <p:sp>
        <p:nvSpPr>
          <p:cNvPr id="145" name="Google Shape;145;p16"/>
          <p:cNvSpPr txBox="1"/>
          <p:nvPr/>
        </p:nvSpPr>
        <p:spPr>
          <a:xfrm>
            <a:off x="3051521" y="3948573"/>
            <a:ext cx="2973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1"/>
                </a:solidFill>
                <a:latin typeface="Roboto"/>
                <a:ea typeface="Roboto"/>
                <a:cs typeface="Roboto"/>
                <a:sym typeface="Roboto"/>
              </a:rPr>
              <a:t>Derived parameters</a:t>
            </a:r>
            <a:endParaRPr/>
          </a:p>
        </p:txBody>
      </p:sp>
      <p:grpSp>
        <p:nvGrpSpPr>
          <p:cNvPr id="146" name="Google Shape;146;p16"/>
          <p:cNvGrpSpPr/>
          <p:nvPr/>
        </p:nvGrpSpPr>
        <p:grpSpPr>
          <a:xfrm>
            <a:off x="3078441" y="4151264"/>
            <a:ext cx="2755080" cy="919387"/>
            <a:chOff x="3203000" y="4229925"/>
            <a:chExt cx="1432401" cy="516800"/>
          </a:xfrm>
        </p:grpSpPr>
        <p:pic>
          <p:nvPicPr>
            <p:cNvPr id="147" name="Google Shape;147;p16"/>
            <p:cNvPicPr preferRelativeResize="0"/>
            <p:nvPr/>
          </p:nvPicPr>
          <p:blipFill rotWithShape="1">
            <a:blip r:embed="rId3">
              <a:alphaModFix/>
            </a:blip>
            <a:srcRect b="0" l="0" r="91167" t="0"/>
            <a:stretch/>
          </p:blipFill>
          <p:spPr>
            <a:xfrm>
              <a:off x="3205117" y="4470598"/>
              <a:ext cx="233276" cy="275975"/>
            </a:xfrm>
            <a:prstGeom prst="rect">
              <a:avLst/>
            </a:prstGeom>
            <a:noFill/>
            <a:ln>
              <a:noFill/>
            </a:ln>
          </p:spPr>
        </p:pic>
        <p:pic>
          <p:nvPicPr>
            <p:cNvPr id="148" name="Google Shape;148;p16"/>
            <p:cNvPicPr preferRelativeResize="0"/>
            <p:nvPr/>
          </p:nvPicPr>
          <p:blipFill rotWithShape="1">
            <a:blip r:embed="rId3">
              <a:alphaModFix/>
            </a:blip>
            <a:srcRect b="0" l="53211" r="814" t="0"/>
            <a:stretch/>
          </p:blipFill>
          <p:spPr>
            <a:xfrm>
              <a:off x="3421225" y="4470750"/>
              <a:ext cx="1214176" cy="275975"/>
            </a:xfrm>
            <a:prstGeom prst="rect">
              <a:avLst/>
            </a:prstGeom>
            <a:noFill/>
            <a:ln>
              <a:noFill/>
            </a:ln>
          </p:spPr>
        </p:pic>
        <p:pic>
          <p:nvPicPr>
            <p:cNvPr id="149" name="Google Shape;149;p16"/>
            <p:cNvPicPr preferRelativeResize="0"/>
            <p:nvPr/>
          </p:nvPicPr>
          <p:blipFill rotWithShape="1">
            <a:blip r:embed="rId3">
              <a:alphaModFix/>
            </a:blip>
            <a:srcRect b="0" l="0" r="46100" t="0"/>
            <a:stretch/>
          </p:blipFill>
          <p:spPr>
            <a:xfrm>
              <a:off x="3203000" y="4229925"/>
              <a:ext cx="1423451" cy="275975"/>
            </a:xfrm>
            <a:prstGeom prst="rect">
              <a:avLst/>
            </a:prstGeom>
            <a:noFill/>
            <a:ln>
              <a:noFill/>
            </a:ln>
          </p:spPr>
        </p:pic>
      </p:grpSp>
      <p:pic>
        <p:nvPicPr>
          <p:cNvPr id="150" name="Google Shape;150;p16" title="Flexible_Shaft_Bode_Plot.png"/>
          <p:cNvPicPr preferRelativeResize="0"/>
          <p:nvPr/>
        </p:nvPicPr>
        <p:blipFill rotWithShape="1">
          <a:blip r:embed="rId4">
            <a:alphaModFix/>
          </a:blip>
          <a:srcRect b="0" l="0" r="0" t="51870"/>
          <a:stretch/>
        </p:blipFill>
        <p:spPr>
          <a:xfrm>
            <a:off x="3065800" y="1939027"/>
            <a:ext cx="2855398" cy="839474"/>
          </a:xfrm>
          <a:prstGeom prst="rect">
            <a:avLst/>
          </a:prstGeom>
          <a:noFill/>
          <a:ln>
            <a:noFill/>
          </a:ln>
        </p:spPr>
      </p:pic>
      <p:sp>
        <p:nvSpPr>
          <p:cNvPr id="151" name="Google Shape;151;p16"/>
          <p:cNvSpPr txBox="1"/>
          <p:nvPr/>
        </p:nvSpPr>
        <p:spPr>
          <a:xfrm>
            <a:off x="3072000" y="2864500"/>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Roboto"/>
                <a:ea typeface="Roboto"/>
                <a:cs typeface="Roboto"/>
                <a:sym typeface="Roboto"/>
              </a:rPr>
              <a:t>Our model matches up nicely with the experimental data on the bode plot. A slight deviation from the experimental data is present before the resonant frequency is reached because our model doesn’t take into account non-viscous damping, which </a:t>
            </a:r>
            <a:endParaRPr sz="5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7" name="Google Shape;15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61111"/>
              <a:buFont typeface="Arial"/>
              <a:buNone/>
            </a:pPr>
            <a:r>
              <a:rPr lang="en"/>
              <a:t>Poster Checklist</a:t>
            </a:r>
            <a:endParaRPr/>
          </a:p>
          <a:p>
            <a:pPr indent="0" lvl="0" marL="0" rtl="0" algn="l">
              <a:spcBef>
                <a:spcPts val="1200"/>
              </a:spcBef>
              <a:spcAft>
                <a:spcPts val="0"/>
              </a:spcAft>
              <a:buClr>
                <a:schemeClr val="dk1"/>
              </a:buClr>
              <a:buSzPct val="61111"/>
              <a:buFont typeface="Arial"/>
              <a:buNone/>
            </a:pPr>
            <a:r>
              <a:rPr lang="en"/>
              <a:t>1. Visual Message</a:t>
            </a:r>
            <a:endParaRPr/>
          </a:p>
          <a:p>
            <a:pPr indent="0" lvl="0" marL="0" rtl="0" algn="l">
              <a:spcBef>
                <a:spcPts val="1200"/>
              </a:spcBef>
              <a:spcAft>
                <a:spcPts val="0"/>
              </a:spcAft>
              <a:buClr>
                <a:schemeClr val="dk1"/>
              </a:buClr>
              <a:buSzPct val="61111"/>
              <a:buFont typeface="Arial"/>
              <a:buNone/>
            </a:pPr>
            <a:r>
              <a:rPr lang="en"/>
              <a:t>2. Title makes a claim and/or tells us the result</a:t>
            </a:r>
            <a:endParaRPr/>
          </a:p>
          <a:p>
            <a:pPr indent="0" lvl="0" marL="0" rtl="0" algn="l">
              <a:spcBef>
                <a:spcPts val="1200"/>
              </a:spcBef>
              <a:spcAft>
                <a:spcPts val="0"/>
              </a:spcAft>
              <a:buClr>
                <a:schemeClr val="dk1"/>
              </a:buClr>
              <a:buSzPct val="61111"/>
              <a:buFont typeface="Arial"/>
              <a:buNone/>
            </a:pPr>
            <a:r>
              <a:rPr lang="en"/>
              <a:t>3. Text = 30/40% (text/labels are large enough, use margins &amp; white space)</a:t>
            </a:r>
            <a:endParaRPr/>
          </a:p>
          <a:p>
            <a:pPr indent="0" lvl="0" marL="0" rtl="0" algn="l">
              <a:spcBef>
                <a:spcPts val="1200"/>
              </a:spcBef>
              <a:spcAft>
                <a:spcPts val="0"/>
              </a:spcAft>
              <a:buClr>
                <a:schemeClr val="dk1"/>
              </a:buClr>
              <a:buSzPct val="61111"/>
              <a:buFont typeface="Arial"/>
              <a:buNone/>
            </a:pPr>
            <a:r>
              <a:rPr lang="en"/>
              <a:t>4. Supporting visuals = 60/70%</a:t>
            </a:r>
            <a:endParaRPr/>
          </a:p>
          <a:p>
            <a:pPr indent="0" lvl="0" marL="0" rtl="0" algn="l">
              <a:spcBef>
                <a:spcPts val="1200"/>
              </a:spcBef>
              <a:spcAft>
                <a:spcPts val="0"/>
              </a:spcAft>
              <a:buClr>
                <a:schemeClr val="dk1"/>
              </a:buClr>
              <a:buSzPct val="61111"/>
              <a:buFont typeface="Arial"/>
              <a:buNone/>
            </a:pPr>
            <a:r>
              <a:rPr lang="en"/>
              <a:t>5. Limited branding</a:t>
            </a:r>
            <a:endParaRPr/>
          </a:p>
          <a:p>
            <a:pPr indent="0" lvl="0" marL="0" rtl="0" algn="l">
              <a:spcBef>
                <a:spcPts val="1200"/>
              </a:spcBef>
              <a:spcAft>
                <a:spcPts val="0"/>
              </a:spcAft>
              <a:buClr>
                <a:schemeClr val="dk1"/>
              </a:buClr>
              <a:buSzPct val="61111"/>
              <a:buFont typeface="Arial"/>
              <a:buNone/>
            </a:pPr>
            <a:r>
              <a:rPr lang="en"/>
              <a:t>6. Descriptive headings, logical flow and order (guide the eye)</a:t>
            </a:r>
            <a:endParaRPr/>
          </a:p>
          <a:p>
            <a:pPr indent="0" lvl="0" marL="0" rtl="0" algn="l">
              <a:spcBef>
                <a:spcPts val="1200"/>
              </a:spcBef>
              <a:spcAft>
                <a:spcPts val="0"/>
              </a:spcAft>
              <a:buClr>
                <a:schemeClr val="dk1"/>
              </a:buClr>
              <a:buSzPct val="61111"/>
              <a:buFont typeface="Arial"/>
              <a:buNone/>
            </a:pPr>
            <a:r>
              <a:rPr lang="en"/>
              <a:t>7. Avoid non-data ink</a:t>
            </a:r>
            <a:endParaRPr/>
          </a:p>
          <a:p>
            <a:pPr indent="0" lvl="0" marL="0" rtl="0" algn="l">
              <a:spcBef>
                <a:spcPts val="1200"/>
              </a:spcBef>
              <a:spcAft>
                <a:spcPts val="0"/>
              </a:spcAft>
              <a:buClr>
                <a:schemeClr val="dk1"/>
              </a:buClr>
              <a:buSzPct val="61111"/>
              <a:buFont typeface="Arial"/>
              <a:buNone/>
            </a:pPr>
            <a:r>
              <a:rPr lang="en"/>
              <a:t>8. Visuals: resolution &amp; clarity</a:t>
            </a:r>
            <a:endParaRPr/>
          </a:p>
          <a:p>
            <a:pPr indent="0" lvl="0" marL="0" rtl="0" algn="l">
              <a:spcBef>
                <a:spcPts val="1200"/>
              </a:spcBef>
              <a:spcAft>
                <a:spcPts val="0"/>
              </a:spcAft>
              <a:buClr>
                <a:schemeClr val="dk1"/>
              </a:buClr>
              <a:buSzPct val="61111"/>
              <a:buFont typeface="Arial"/>
              <a:buNone/>
            </a:pPr>
            <a:r>
              <a:rPr lang="en"/>
              <a:t>9. Design so good you don’t know it’s there</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Lec 2 notes</a:t>
            </a:r>
            <a:endParaRPr/>
          </a:p>
        </p:txBody>
      </p:sp>
      <p:sp>
        <p:nvSpPr>
          <p:cNvPr id="163" name="Google Shape;16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19"/>
          <p:cNvPicPr preferRelativeResize="0"/>
          <p:nvPr/>
        </p:nvPicPr>
        <p:blipFill>
          <a:blip r:embed="rId3">
            <a:alphaModFix/>
          </a:blip>
          <a:stretch>
            <a:fillRect/>
          </a:stretch>
        </p:blipFill>
        <p:spPr>
          <a:xfrm>
            <a:off x="152400" y="152400"/>
            <a:ext cx="2575900" cy="732250"/>
          </a:xfrm>
          <a:prstGeom prst="rect">
            <a:avLst/>
          </a:prstGeom>
          <a:noFill/>
          <a:ln>
            <a:noFill/>
          </a:ln>
        </p:spPr>
      </p:pic>
      <p:pic>
        <p:nvPicPr>
          <p:cNvPr id="169" name="Google Shape;169;p19"/>
          <p:cNvPicPr preferRelativeResize="0"/>
          <p:nvPr/>
        </p:nvPicPr>
        <p:blipFill>
          <a:blip r:embed="rId4">
            <a:alphaModFix/>
          </a:blip>
          <a:stretch>
            <a:fillRect/>
          </a:stretch>
        </p:blipFill>
        <p:spPr>
          <a:xfrm>
            <a:off x="6415700" y="152400"/>
            <a:ext cx="2575898" cy="1826278"/>
          </a:xfrm>
          <a:prstGeom prst="rect">
            <a:avLst/>
          </a:prstGeom>
          <a:noFill/>
          <a:ln>
            <a:noFill/>
          </a:ln>
        </p:spPr>
      </p:pic>
      <p:pic>
        <p:nvPicPr>
          <p:cNvPr id="170" name="Google Shape;170;p19"/>
          <p:cNvPicPr preferRelativeResize="0"/>
          <p:nvPr/>
        </p:nvPicPr>
        <p:blipFill>
          <a:blip r:embed="rId5">
            <a:alphaModFix/>
          </a:blip>
          <a:stretch>
            <a:fillRect/>
          </a:stretch>
        </p:blipFill>
        <p:spPr>
          <a:xfrm>
            <a:off x="152400" y="1037050"/>
            <a:ext cx="2933698" cy="1496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0" title="IMG_2814.jpg"/>
          <p:cNvPicPr preferRelativeResize="0"/>
          <p:nvPr/>
        </p:nvPicPr>
        <p:blipFill rotWithShape="1">
          <a:blip r:embed="rId3">
            <a:alphaModFix/>
          </a:blip>
          <a:srcRect b="0" l="0" r="0" t="42039"/>
          <a:stretch/>
        </p:blipFill>
        <p:spPr>
          <a:xfrm>
            <a:off x="152400" y="1082466"/>
            <a:ext cx="8991601" cy="3908632"/>
          </a:xfrm>
          <a:prstGeom prst="rect">
            <a:avLst/>
          </a:prstGeom>
          <a:noFill/>
          <a:ln>
            <a:noFill/>
          </a:ln>
        </p:spPr>
      </p:pic>
      <p:sp>
        <p:nvSpPr>
          <p:cNvPr id="176" name="Google Shape;176;p20"/>
          <p:cNvSpPr/>
          <p:nvPr/>
        </p:nvSpPr>
        <p:spPr>
          <a:xfrm>
            <a:off x="2696000" y="1823250"/>
            <a:ext cx="658500" cy="14970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0"/>
          <p:cNvSpPr/>
          <p:nvPr/>
        </p:nvSpPr>
        <p:spPr>
          <a:xfrm>
            <a:off x="6911025" y="1752025"/>
            <a:ext cx="658500" cy="14970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8" name="Google Shape;178;p20"/>
          <p:cNvCxnSpPr/>
          <p:nvPr/>
        </p:nvCxnSpPr>
        <p:spPr>
          <a:xfrm>
            <a:off x="6930000" y="2186250"/>
            <a:ext cx="198900" cy="258900"/>
          </a:xfrm>
          <a:prstGeom prst="straightConnector1">
            <a:avLst/>
          </a:prstGeom>
          <a:noFill/>
          <a:ln cap="flat" cmpd="sng" w="28575">
            <a:solidFill>
              <a:srgbClr val="000000"/>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